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"/>
            <a:ext cx="10435471" cy="1074656"/>
          </a:xfrm>
        </p:spPr>
        <p:txBody>
          <a:bodyPr/>
          <a:lstStyle/>
          <a:p>
            <a:r>
              <a:rPr lang="en-US" sz="2400" b="1" dirty="0" smtClean="0"/>
              <a:t>        </a:t>
            </a:r>
            <a:r>
              <a:rPr lang="en-US" sz="2400" b="1" dirty="0" smtClean="0">
                <a:solidFill>
                  <a:schemeClr val="accent3"/>
                </a:solidFill>
              </a:rPr>
              <a:t>PRESENTATION DEL’APPLICATION DE PREDICTION DE DIABETE</a:t>
            </a:r>
            <a:br>
              <a:rPr lang="en-US" sz="2400" b="1" dirty="0" smtClean="0">
                <a:solidFill>
                  <a:schemeClr val="accent3"/>
                </a:solidFill>
              </a:rPr>
            </a:br>
            <a:r>
              <a:rPr lang="en-US" sz="2400" b="1" dirty="0" smtClean="0">
                <a:solidFill>
                  <a:schemeClr val="accent3"/>
                </a:solidFill>
              </a:rPr>
              <a:t>                                         </a:t>
            </a:r>
            <a:r>
              <a:rPr lang="fr-FR" sz="2400" b="1" dirty="0" smtClean="0">
                <a:solidFill>
                  <a:schemeClr val="accent3"/>
                </a:solidFill>
              </a:rPr>
              <a:t>DiabPredict</a:t>
            </a:r>
            <a:r>
              <a:rPr lang="fr-FR" sz="2800" dirty="0"/>
              <a:t/>
            </a:r>
            <a:br>
              <a:rPr lang="fr-FR" sz="2800" dirty="0"/>
            </a:br>
            <a:endParaRPr lang="fr-FR" sz="2800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254524" y="697584"/>
            <a:ext cx="9795330" cy="5550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              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Prédiction </a:t>
            </a:r>
            <a:r>
              <a:rPr lang="fr-FR" dirty="0"/>
              <a:t>du Diabète par Intelligence </a:t>
            </a:r>
            <a:r>
              <a:rPr lang="fr-FR" dirty="0" smtClean="0"/>
              <a:t>Artificielle</a:t>
            </a:r>
          </a:p>
          <a:p>
            <a:pPr marL="0" indent="0">
              <a:buNone/>
            </a:pPr>
            <a:r>
              <a:rPr lang="en-US" dirty="0" smtClean="0"/>
              <a:t>                     Cas des Femmes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 smtClean="0"/>
              <a:t>                  Projet </a:t>
            </a:r>
            <a:r>
              <a:rPr lang="fr-FR" dirty="0"/>
              <a:t>de Machine </a:t>
            </a:r>
            <a:r>
              <a:rPr lang="fr-FR" dirty="0" smtClean="0"/>
              <a:t>Learning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Domaine :Santé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 smtClean="0"/>
              <a:t>                 Présenté </a:t>
            </a:r>
            <a:r>
              <a:rPr lang="fr-FR" dirty="0"/>
              <a:t>par :</a:t>
            </a:r>
          </a:p>
          <a:p>
            <a:pPr marL="0" indent="0">
              <a:buNone/>
            </a:pPr>
            <a:r>
              <a:rPr lang="fr-FR" dirty="0" smtClean="0"/>
              <a:t>                       - </a:t>
            </a:r>
            <a:r>
              <a:rPr lang="fr-FR" dirty="0"/>
              <a:t>MUSHOBOZI MUNGOBIJIRA Affable</a:t>
            </a:r>
          </a:p>
          <a:p>
            <a:pPr marL="0" indent="0">
              <a:buNone/>
            </a:pPr>
            <a:r>
              <a:rPr lang="fr-FR" dirty="0" smtClean="0"/>
              <a:t>                       - </a:t>
            </a:r>
            <a:r>
              <a:rPr lang="fr-FR" dirty="0"/>
              <a:t>Amani Sukuwabo Bravo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 smtClean="0"/>
              <a:t>                    Date </a:t>
            </a:r>
            <a:r>
              <a:rPr lang="fr-FR" dirty="0"/>
              <a:t>: Juillet 2026</a:t>
            </a:r>
          </a:p>
        </p:txBody>
      </p:sp>
    </p:spTree>
    <p:extLst>
      <p:ext uri="{BB962C8B-B14F-4D97-AF65-F5344CB8AC3E}">
        <p14:creationId xmlns:p14="http://schemas.microsoft.com/office/powerpoint/2010/main" val="337167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866506" y="122548"/>
            <a:ext cx="7522591" cy="895547"/>
          </a:xfrm>
        </p:spPr>
        <p:txBody>
          <a:bodyPr/>
          <a:lstStyle/>
          <a:p>
            <a:r>
              <a:rPr lang="fr-FR" b="1" dirty="0" smtClean="0"/>
              <a:t>       </a:t>
            </a:r>
            <a:r>
              <a:rPr lang="fr-FR" b="1" dirty="0" smtClean="0">
                <a:solidFill>
                  <a:schemeClr val="accent3"/>
                </a:solidFill>
              </a:rPr>
              <a:t>Plan </a:t>
            </a:r>
            <a:r>
              <a:rPr lang="fr-FR" b="1" dirty="0">
                <a:solidFill>
                  <a:schemeClr val="accent3"/>
                </a:solidFill>
              </a:rPr>
              <a:t>de la présentation</a:t>
            </a:r>
            <a:endParaRPr lang="fr-FR" dirty="0">
              <a:solidFill>
                <a:schemeClr val="accent3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idx="1"/>
          </p:nvPr>
        </p:nvSpPr>
        <p:spPr>
          <a:xfrm>
            <a:off x="2592371" y="1018095"/>
            <a:ext cx="7457482" cy="5646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dirty="0" smtClean="0">
                <a:solidFill>
                  <a:schemeClr val="accent3"/>
                </a:solidFill>
              </a:rPr>
              <a:t>                    </a:t>
            </a:r>
            <a:r>
              <a:rPr lang="fr-FR" b="1" dirty="0"/>
              <a:t/>
            </a:r>
            <a:br>
              <a:rPr lang="fr-FR" b="1" dirty="0"/>
            </a:br>
            <a:r>
              <a:rPr lang="fr-FR" b="1" dirty="0" smtClean="0"/>
              <a:t>1</a:t>
            </a:r>
            <a:r>
              <a:rPr lang="fr-FR" b="1" dirty="0"/>
              <a:t>. Introduction et Problématique</a:t>
            </a:r>
            <a:br>
              <a:rPr lang="fr-FR" b="1" dirty="0"/>
            </a:br>
            <a:r>
              <a:rPr lang="fr-FR" b="1" dirty="0"/>
              <a:t>2. Objectifs du projet</a:t>
            </a:r>
            <a:br>
              <a:rPr lang="fr-FR" b="1" dirty="0"/>
            </a:br>
            <a:r>
              <a:rPr lang="fr-FR" b="1" dirty="0"/>
              <a:t>3. Le Dataset (Pima Indians </a:t>
            </a:r>
            <a:r>
              <a:rPr lang="fr-FR" b="1" dirty="0" err="1" smtClean="0"/>
              <a:t>Diabetes</a:t>
            </a:r>
            <a:r>
              <a:rPr lang="fr-FR" b="1" dirty="0" smtClean="0"/>
              <a:t>)</a:t>
            </a:r>
            <a:r>
              <a:rPr lang="fr-FR" b="1" dirty="0"/>
              <a:t/>
            </a:r>
            <a:br>
              <a:rPr lang="fr-FR" b="1" dirty="0"/>
            </a:br>
            <a:r>
              <a:rPr lang="fr-FR" b="1" dirty="0"/>
              <a:t>4. Analyse Exploratoire des Données</a:t>
            </a:r>
            <a:br>
              <a:rPr lang="fr-FR" b="1" dirty="0"/>
            </a:br>
            <a:r>
              <a:rPr lang="fr-FR" b="1" dirty="0"/>
              <a:t>5. Préparation des Données</a:t>
            </a:r>
            <a:br>
              <a:rPr lang="fr-FR" b="1" dirty="0"/>
            </a:br>
            <a:r>
              <a:rPr lang="fr-FR" b="1" dirty="0"/>
              <a:t>6. Modèles de Machine Learning utilisés</a:t>
            </a:r>
            <a:br>
              <a:rPr lang="fr-FR" b="1" dirty="0"/>
            </a:br>
            <a:r>
              <a:rPr lang="fr-FR" b="1" dirty="0"/>
              <a:t>7. Évaluation et Comparaison</a:t>
            </a:r>
            <a:br>
              <a:rPr lang="fr-FR" b="1" dirty="0"/>
            </a:br>
            <a:r>
              <a:rPr lang="fr-FR" b="1" dirty="0"/>
              <a:t>8. Déploiement de </a:t>
            </a:r>
            <a:r>
              <a:rPr lang="fr-FR" b="1" dirty="0" smtClean="0"/>
              <a:t>l'Application</a:t>
            </a:r>
            <a:r>
              <a:rPr lang="fr-FR" b="1" dirty="0"/>
              <a:t/>
            </a:r>
            <a:br>
              <a:rPr lang="fr-FR" b="1" dirty="0"/>
            </a:br>
            <a:r>
              <a:rPr lang="fr-FR" b="1" dirty="0"/>
              <a:t>9</a:t>
            </a:r>
            <a:r>
              <a:rPr lang="fr-FR" b="1" dirty="0" smtClean="0"/>
              <a:t>. </a:t>
            </a:r>
            <a:r>
              <a:rPr lang="fr-FR" b="1" dirty="0"/>
              <a:t>Fonctionnalités</a:t>
            </a:r>
            <a:br>
              <a:rPr lang="fr-FR" b="1" dirty="0"/>
            </a:br>
            <a:r>
              <a:rPr lang="fr-FR" b="1" dirty="0" smtClean="0"/>
              <a:t>10. Démonstration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5695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8262219" cy="1112131"/>
          </a:xfrm>
        </p:spPr>
        <p:txBody>
          <a:bodyPr/>
          <a:lstStyle/>
          <a:p>
            <a:r>
              <a:rPr lang="fr-FR" dirty="0" smtClean="0"/>
              <a:t>          </a:t>
            </a:r>
            <a:r>
              <a:rPr lang="fr-FR" sz="6000" b="1" dirty="0" smtClean="0"/>
              <a:t>Introduction</a:t>
            </a:r>
            <a:endParaRPr lang="fr-FR" sz="6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6112" y="1395168"/>
            <a:ext cx="9403742" cy="5382704"/>
          </a:xfrm>
        </p:spPr>
        <p:txBody>
          <a:bodyPr>
            <a:noAutofit/>
          </a:bodyPr>
          <a:lstStyle/>
          <a:p>
            <a:endParaRPr lang="fr-FR" sz="1400" dirty="0"/>
          </a:p>
          <a:p>
            <a:pPr marL="0" indent="0">
              <a:buNone/>
            </a:pPr>
            <a:r>
              <a:rPr lang="fr-FR" sz="1400" dirty="0" smtClean="0"/>
              <a:t>          </a:t>
            </a:r>
            <a:r>
              <a:rPr lang="fr-FR" sz="1600" dirty="0" smtClean="0"/>
              <a:t>Le </a:t>
            </a:r>
            <a:r>
              <a:rPr lang="fr-FR" sz="1600" dirty="0"/>
              <a:t>diabète est une maladie chronique qui touche des millions de personnes dans le monde.</a:t>
            </a:r>
          </a:p>
          <a:p>
            <a:endParaRPr lang="fr-FR" sz="1600" dirty="0"/>
          </a:p>
          <a:p>
            <a:pPr marL="0" indent="0">
              <a:buNone/>
            </a:pPr>
            <a:r>
              <a:rPr lang="fr-FR" b="1" dirty="0" smtClean="0">
                <a:latin typeface="Algerian" panose="04020705040A02060702" pitchFamily="82" charset="0"/>
              </a:rPr>
              <a:t>                               </a:t>
            </a:r>
            <a:r>
              <a:rPr lang="fr-FR" b="1" dirty="0">
                <a:latin typeface="Arial Black" panose="020B0A04020102020204" pitchFamily="34" charset="0"/>
              </a:rPr>
              <a:t>Problème :</a:t>
            </a:r>
          </a:p>
          <a:p>
            <a:pPr marL="0" indent="0">
              <a:buNone/>
            </a:pPr>
            <a:r>
              <a:rPr lang="fr-FR" sz="1600" dirty="0" smtClean="0"/>
              <a:t>           - </a:t>
            </a:r>
            <a:r>
              <a:rPr lang="fr-FR" sz="1600" dirty="0"/>
              <a:t>Détection tardive du diabète</a:t>
            </a:r>
          </a:p>
          <a:p>
            <a:pPr marL="0" indent="0">
              <a:buNone/>
            </a:pPr>
            <a:r>
              <a:rPr lang="fr-FR" sz="1600" dirty="0" smtClean="0"/>
              <a:t>            - </a:t>
            </a:r>
            <a:r>
              <a:rPr lang="fr-FR" sz="1600" dirty="0"/>
              <a:t>Manque d'outils de dépistage précoce</a:t>
            </a:r>
          </a:p>
          <a:p>
            <a:pPr marL="0" indent="0">
              <a:buNone/>
            </a:pPr>
            <a:r>
              <a:rPr lang="fr-FR" sz="1600" dirty="0" smtClean="0"/>
              <a:t>            - </a:t>
            </a:r>
            <a:r>
              <a:rPr lang="fr-FR" sz="1600" dirty="0"/>
              <a:t>Coût élevé des tests médicaux</a:t>
            </a:r>
          </a:p>
          <a:p>
            <a:endParaRPr lang="fr-FR" sz="1600" dirty="0"/>
          </a:p>
          <a:p>
            <a:pPr marL="0" indent="0">
              <a:buNone/>
            </a:pPr>
            <a:r>
              <a:rPr lang="fr-FR" sz="1600" dirty="0" smtClean="0"/>
              <a:t>                                      </a:t>
            </a:r>
            <a:r>
              <a:rPr lang="fr-FR" b="1" dirty="0" smtClean="0">
                <a:latin typeface="Arial Black" panose="020B0A04020102020204" pitchFamily="34" charset="0"/>
              </a:rPr>
              <a:t>Solution </a:t>
            </a:r>
            <a:r>
              <a:rPr lang="fr-FR" b="1" dirty="0">
                <a:latin typeface="Arial Black" panose="020B0A04020102020204" pitchFamily="34" charset="0"/>
              </a:rPr>
              <a:t>:</a:t>
            </a:r>
          </a:p>
          <a:p>
            <a:pPr marL="0" indent="0">
              <a:buNone/>
            </a:pPr>
            <a:r>
              <a:rPr lang="fr-FR" sz="1600" dirty="0" smtClean="0"/>
              <a:t>         - </a:t>
            </a:r>
            <a:r>
              <a:rPr lang="fr-FR" sz="1600" dirty="0"/>
              <a:t>DiabPredict : application de prédiction du diabète</a:t>
            </a:r>
          </a:p>
          <a:p>
            <a:pPr marL="0" indent="0">
              <a:buNone/>
            </a:pPr>
            <a:r>
              <a:rPr lang="fr-FR" sz="1600" dirty="0" smtClean="0"/>
              <a:t>         - Utilisation </a:t>
            </a:r>
            <a:r>
              <a:rPr lang="fr-FR" sz="1600" dirty="0"/>
              <a:t>de l'Intelligence Artificielle (IA)</a:t>
            </a:r>
          </a:p>
          <a:p>
            <a:pPr marL="0" indent="0">
              <a:buNone/>
            </a:pPr>
            <a:r>
              <a:rPr lang="fr-FR" sz="1600" dirty="0" smtClean="0"/>
              <a:t>          - </a:t>
            </a:r>
            <a:r>
              <a:rPr lang="fr-FR" sz="1600" dirty="0"/>
              <a:t>Prédiction précoce à partir de paramètres médicaux simples</a:t>
            </a:r>
          </a:p>
          <a:p>
            <a:pPr marL="0" indent="0">
              <a:buNone/>
            </a:pPr>
            <a:r>
              <a:rPr lang="fr-FR" sz="1600" dirty="0" smtClean="0"/>
              <a:t>           - </a:t>
            </a:r>
            <a:r>
              <a:rPr lang="fr-FR" sz="1600" dirty="0"/>
              <a:t>Interface web accessible et intuitive</a:t>
            </a:r>
          </a:p>
        </p:txBody>
      </p:sp>
    </p:spTree>
    <p:extLst>
      <p:ext uri="{BB962C8B-B14F-4D97-AF65-F5344CB8AC3E}">
        <p14:creationId xmlns:p14="http://schemas.microsoft.com/office/powerpoint/2010/main" val="109777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48181"/>
          </a:xfrm>
        </p:spPr>
        <p:txBody>
          <a:bodyPr/>
          <a:lstStyle/>
          <a:p>
            <a:r>
              <a:rPr lang="fr-FR" dirty="0" smtClean="0"/>
              <a:t>         </a:t>
            </a:r>
            <a:r>
              <a:rPr lang="fr-FR" sz="4400" b="1" dirty="0"/>
              <a:t>Objectifs du projet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6112" y="1300900"/>
            <a:ext cx="9403742" cy="5410986"/>
          </a:xfrm>
        </p:spPr>
        <p:txBody>
          <a:bodyPr>
            <a:normAutofit fontScale="85000" lnSpcReduction="20000"/>
          </a:bodyPr>
          <a:lstStyle/>
          <a:p>
            <a:endParaRPr lang="fr-FR" dirty="0"/>
          </a:p>
          <a:p>
            <a:pPr marL="0" indent="0">
              <a:buNone/>
            </a:pPr>
            <a:r>
              <a:rPr lang="fr-FR" dirty="0" smtClean="0"/>
              <a:t>                     </a:t>
            </a:r>
            <a:r>
              <a:rPr lang="fr-FR" sz="1900" dirty="0" smtClean="0"/>
              <a:t>1</a:t>
            </a:r>
            <a:r>
              <a:rPr lang="fr-FR" sz="1900" dirty="0"/>
              <a:t>. </a:t>
            </a:r>
            <a:r>
              <a:rPr lang="fr-FR" sz="2400" b="1" dirty="0"/>
              <a:t>Développer un modèle de Machine Learning performant</a:t>
            </a:r>
          </a:p>
          <a:p>
            <a:pPr marL="0" indent="0">
              <a:buNone/>
            </a:pPr>
            <a:r>
              <a:rPr lang="fr-FR" sz="1900" dirty="0"/>
              <a:t> </a:t>
            </a:r>
            <a:r>
              <a:rPr lang="fr-FR" sz="1900" dirty="0" smtClean="0"/>
              <a:t>                        </a:t>
            </a:r>
            <a:r>
              <a:rPr lang="fr-FR" sz="1900" dirty="0"/>
              <a:t>- Prédire le risque de diabète avec une précision &gt; 85%</a:t>
            </a:r>
          </a:p>
          <a:p>
            <a:endParaRPr lang="fr-FR" sz="1900" dirty="0"/>
          </a:p>
          <a:p>
            <a:pPr marL="0" indent="0">
              <a:buNone/>
            </a:pPr>
            <a:r>
              <a:rPr lang="fr-FR" sz="1900" dirty="0" smtClean="0"/>
              <a:t>                       2</a:t>
            </a:r>
            <a:r>
              <a:rPr lang="fr-FR" sz="1900" dirty="0"/>
              <a:t>. </a:t>
            </a:r>
            <a:r>
              <a:rPr lang="fr-FR" sz="2400" b="1" dirty="0"/>
              <a:t>Créer une application web complète</a:t>
            </a:r>
          </a:p>
          <a:p>
            <a:pPr marL="0" indent="0">
              <a:buNone/>
            </a:pPr>
            <a:r>
              <a:rPr lang="fr-FR" sz="1900" dirty="0" smtClean="0"/>
              <a:t>                             </a:t>
            </a:r>
            <a:r>
              <a:rPr lang="fr-FR" sz="1900" dirty="0"/>
              <a:t>- Interface utilisateur intuitive</a:t>
            </a:r>
          </a:p>
          <a:p>
            <a:pPr marL="0" indent="0">
              <a:buNone/>
            </a:pPr>
            <a:r>
              <a:rPr lang="fr-FR" sz="1900" dirty="0"/>
              <a:t> </a:t>
            </a:r>
            <a:r>
              <a:rPr lang="fr-FR" sz="1900" dirty="0" smtClean="0"/>
              <a:t>                            </a:t>
            </a:r>
            <a:r>
              <a:rPr lang="fr-FR" sz="1900" dirty="0"/>
              <a:t>- Sauvegarde des prédictions en base de données</a:t>
            </a:r>
          </a:p>
          <a:p>
            <a:endParaRPr lang="fr-FR" sz="1900" dirty="0"/>
          </a:p>
          <a:p>
            <a:pPr marL="0" indent="0">
              <a:buNone/>
            </a:pPr>
            <a:r>
              <a:rPr lang="fr-FR" sz="2100" dirty="0" smtClean="0"/>
              <a:t>                     3</a:t>
            </a:r>
            <a:r>
              <a:rPr lang="fr-FR" sz="2100" dirty="0"/>
              <a:t>. </a:t>
            </a:r>
            <a:r>
              <a:rPr lang="fr-FR" sz="2400" b="1" dirty="0"/>
              <a:t>Comparer 3 modèles de classification</a:t>
            </a:r>
          </a:p>
          <a:p>
            <a:pPr marL="0" indent="0">
              <a:buNone/>
            </a:pPr>
            <a:r>
              <a:rPr lang="fr-FR" sz="1900" dirty="0"/>
              <a:t> </a:t>
            </a:r>
            <a:r>
              <a:rPr lang="fr-FR" sz="1900" dirty="0" smtClean="0"/>
              <a:t>                          </a:t>
            </a:r>
            <a:r>
              <a:rPr lang="fr-FR" sz="1900" dirty="0"/>
              <a:t>- KNN (K-</a:t>
            </a:r>
            <a:r>
              <a:rPr lang="fr-FR" sz="1900" dirty="0" err="1"/>
              <a:t>Nearest</a:t>
            </a:r>
            <a:r>
              <a:rPr lang="fr-FR" sz="1900" dirty="0"/>
              <a:t> Neighbors)</a:t>
            </a:r>
          </a:p>
          <a:p>
            <a:pPr marL="0" indent="0">
              <a:buNone/>
            </a:pPr>
            <a:r>
              <a:rPr lang="fr-FR" sz="1900" dirty="0" smtClean="0"/>
              <a:t>                          </a:t>
            </a:r>
            <a:r>
              <a:rPr lang="fr-FR" sz="1900" dirty="0"/>
              <a:t>- XGBoost (Extreme Gradient Boosting)</a:t>
            </a:r>
          </a:p>
          <a:p>
            <a:pPr marL="0" indent="0">
              <a:buNone/>
            </a:pPr>
            <a:r>
              <a:rPr lang="fr-FR" sz="1900" dirty="0" smtClean="0"/>
              <a:t>                            </a:t>
            </a:r>
            <a:r>
              <a:rPr lang="fr-FR" sz="1900" dirty="0"/>
              <a:t>- LightGBM (Light Gradient Boosting)</a:t>
            </a:r>
          </a:p>
          <a:p>
            <a:endParaRPr lang="fr-FR" sz="1900" dirty="0"/>
          </a:p>
          <a:p>
            <a:pPr marL="0" indent="0">
              <a:buNone/>
            </a:pPr>
            <a:r>
              <a:rPr lang="fr-FR" sz="1900" dirty="0" smtClean="0"/>
              <a:t>                      4</a:t>
            </a:r>
            <a:r>
              <a:rPr lang="fr-FR" sz="2200" b="1" dirty="0"/>
              <a:t>. </a:t>
            </a:r>
            <a:r>
              <a:rPr lang="fr-FR" sz="2800" b="1" dirty="0"/>
              <a:t>Déployer l'application en ligne</a:t>
            </a:r>
          </a:p>
          <a:p>
            <a:pPr marL="0" indent="0">
              <a:buNone/>
            </a:pPr>
            <a:r>
              <a:rPr lang="fr-FR" sz="1900" dirty="0" smtClean="0"/>
              <a:t>                        </a:t>
            </a:r>
            <a:r>
              <a:rPr lang="fr-FR" sz="1900" dirty="0"/>
              <a:t>- Hébergement sur </a:t>
            </a:r>
            <a:r>
              <a:rPr lang="fr-FR" sz="1900" dirty="0" err="1"/>
              <a:t>Render</a:t>
            </a:r>
            <a:r>
              <a:rPr lang="fr-FR" sz="1900" dirty="0"/>
              <a:t>/</a:t>
            </a:r>
            <a:r>
              <a:rPr lang="fr-FR" sz="1900" dirty="0" err="1"/>
              <a:t>PythonAnywhere</a:t>
            </a:r>
            <a:endParaRPr lang="fr-FR" sz="1900" dirty="0"/>
          </a:p>
          <a:p>
            <a:pPr marL="0" indent="0">
              <a:buNone/>
            </a:pPr>
            <a:r>
              <a:rPr lang="fr-FR" sz="1900" dirty="0" smtClean="0"/>
              <a:t>                        </a:t>
            </a:r>
            <a:r>
              <a:rPr lang="fr-FR" sz="1900" dirty="0"/>
              <a:t>- Accessible à tous</a:t>
            </a:r>
          </a:p>
        </p:txBody>
      </p:sp>
    </p:spTree>
    <p:extLst>
      <p:ext uri="{BB962C8B-B14F-4D97-AF65-F5344CB8AC3E}">
        <p14:creationId xmlns:p14="http://schemas.microsoft.com/office/powerpoint/2010/main" val="2977686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160256"/>
            <a:ext cx="9355728" cy="933253"/>
          </a:xfrm>
        </p:spPr>
        <p:txBody>
          <a:bodyPr/>
          <a:lstStyle/>
          <a:p>
            <a:r>
              <a:rPr lang="fr-FR" sz="4000" b="1" dirty="0" smtClean="0"/>
              <a:t>Le </a:t>
            </a:r>
            <a:r>
              <a:rPr lang="fr-FR" sz="4000" b="1" dirty="0"/>
              <a:t>Dataset : Pima Indians </a:t>
            </a:r>
            <a:r>
              <a:rPr lang="fr-FR" sz="4000" b="1" dirty="0" smtClean="0"/>
              <a:t>Diabetes</a:t>
            </a:r>
            <a:endParaRPr lang="fr-FR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926" y="942681"/>
            <a:ext cx="10407192" cy="578805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FR" sz="2300" b="1" dirty="0" smtClean="0"/>
              <a:t>                                                                      </a:t>
            </a:r>
            <a:r>
              <a:rPr lang="fr-FR" sz="3400" b="1" dirty="0" smtClean="0"/>
              <a:t>        ( </a:t>
            </a:r>
            <a:r>
              <a:rPr lang="fr-FR" sz="3800" b="1" dirty="0" smtClean="0"/>
              <a:t>Source </a:t>
            </a:r>
            <a:r>
              <a:rPr lang="fr-FR" sz="3800" b="1" dirty="0"/>
              <a:t>: Kaggle)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- Population </a:t>
            </a:r>
            <a:r>
              <a:rPr lang="fr-FR" sz="2500" dirty="0"/>
              <a:t>: Femmes amérindiennes Pima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 -Taille </a:t>
            </a:r>
            <a:r>
              <a:rPr lang="fr-FR" sz="2500" dirty="0"/>
              <a:t>: 768 observations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  -Features </a:t>
            </a:r>
            <a:r>
              <a:rPr lang="fr-FR" sz="2500" dirty="0"/>
              <a:t>: 8 variables médicales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 -Target </a:t>
            </a:r>
            <a:r>
              <a:rPr lang="fr-FR" sz="2500" dirty="0"/>
              <a:t>: 2 classes (Diabétique / Non-diabétique)</a:t>
            </a:r>
          </a:p>
          <a:p>
            <a:endParaRPr lang="fr-FR" sz="2500" dirty="0"/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</a:t>
            </a:r>
            <a:r>
              <a:rPr lang="fr-FR" sz="3600" dirty="0">
                <a:latin typeface="Arial Black" panose="020B0A04020102020204" pitchFamily="34" charset="0"/>
              </a:rPr>
              <a:t>Variables médicales :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 - </a:t>
            </a:r>
            <a:r>
              <a:rPr lang="fr-FR" sz="2500" dirty="0"/>
              <a:t>Pregnancies : Nombre de grossesses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 - </a:t>
            </a:r>
            <a:r>
              <a:rPr lang="fr-FR" sz="2500" dirty="0"/>
              <a:t>Glucose : Taux de glucose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  - </a:t>
            </a:r>
            <a:r>
              <a:rPr lang="fr-FR" sz="2500" dirty="0"/>
              <a:t>BloodPressure : Pression artérielle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 - </a:t>
            </a:r>
            <a:r>
              <a:rPr lang="fr-FR" sz="2500" dirty="0"/>
              <a:t>SkinThickness : Épaisseur de la peau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 - </a:t>
            </a:r>
            <a:r>
              <a:rPr lang="fr-FR" sz="2500" dirty="0"/>
              <a:t>Insulin : Taux d'insuline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 - </a:t>
            </a:r>
            <a:r>
              <a:rPr lang="fr-FR" sz="2500" dirty="0"/>
              <a:t>BMI : Indice de Masse Corporelle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   - </a:t>
            </a:r>
            <a:r>
              <a:rPr lang="fr-FR" sz="2500" dirty="0"/>
              <a:t>DiabetesPedigreeFunction : Fonction généalogique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   - </a:t>
            </a:r>
            <a:r>
              <a:rPr lang="fr-FR" sz="2500" dirty="0"/>
              <a:t>Age : Âge</a:t>
            </a:r>
          </a:p>
          <a:p>
            <a:endParaRPr lang="fr-FR" sz="2500" dirty="0"/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</a:t>
            </a:r>
            <a:r>
              <a:rPr lang="fr-FR" sz="3300" dirty="0">
                <a:latin typeface="Arial Black" panose="020B0A04020102020204" pitchFamily="34" charset="0"/>
              </a:rPr>
              <a:t>Distribution des classes :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- </a:t>
            </a:r>
            <a:r>
              <a:rPr lang="fr-FR" sz="2500" dirty="0"/>
              <a:t>Non-diabétique : 500 (65%)</a:t>
            </a:r>
          </a:p>
          <a:p>
            <a:pPr marL="0" indent="0">
              <a:buNone/>
            </a:pPr>
            <a:r>
              <a:rPr lang="fr-FR" sz="2500" dirty="0" smtClean="0"/>
              <a:t>                                                                - </a:t>
            </a:r>
            <a:r>
              <a:rPr lang="fr-FR" sz="2500" dirty="0"/>
              <a:t>Diabétique : 268 (35%)</a:t>
            </a:r>
          </a:p>
        </p:txBody>
      </p:sp>
    </p:spTree>
    <p:extLst>
      <p:ext uri="{BB962C8B-B14F-4D97-AF65-F5344CB8AC3E}">
        <p14:creationId xmlns:p14="http://schemas.microsoft.com/office/powerpoint/2010/main" val="582967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415011"/>
            <a:ext cx="9695093" cy="951876"/>
          </a:xfrm>
        </p:spPr>
        <p:txBody>
          <a:bodyPr/>
          <a:lstStyle/>
          <a:p>
            <a:r>
              <a:rPr lang="fr-FR" sz="4400" b="1" dirty="0" smtClean="0"/>
              <a:t>Analyse </a:t>
            </a:r>
            <a:r>
              <a:rPr lang="fr-FR" sz="4400" b="1" dirty="0"/>
              <a:t>Exploratoire des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6112" y="1093509"/>
            <a:ext cx="9403742" cy="5448693"/>
          </a:xfrm>
        </p:spPr>
        <p:txBody>
          <a:bodyPr>
            <a:noAutofit/>
          </a:bodyPr>
          <a:lstStyle/>
          <a:p>
            <a:endParaRPr lang="fr-FR" sz="2400" b="1" dirty="0"/>
          </a:p>
          <a:p>
            <a:pPr marL="0" indent="0">
              <a:buNone/>
            </a:pPr>
            <a:r>
              <a:rPr lang="fr-FR" sz="2400" b="1" dirty="0" smtClean="0"/>
              <a:t>                1</a:t>
            </a:r>
            <a:r>
              <a:rPr lang="fr-FR" sz="2400" b="1" dirty="0"/>
              <a:t>. Distribution des classes</a:t>
            </a:r>
          </a:p>
          <a:p>
            <a:pPr marL="0" indent="0">
              <a:buNone/>
            </a:pPr>
            <a:r>
              <a:rPr lang="fr-FR" sz="1800" dirty="0"/>
              <a:t>  </a:t>
            </a:r>
            <a:r>
              <a:rPr lang="fr-FR" sz="1800" dirty="0" smtClean="0"/>
              <a:t>                    </a:t>
            </a:r>
            <a:r>
              <a:rPr lang="fr-FR" sz="1800" dirty="0"/>
              <a:t>[Graphique : Barres des classes]</a:t>
            </a:r>
          </a:p>
          <a:p>
            <a:endParaRPr lang="fr-FR" sz="1800" dirty="0"/>
          </a:p>
          <a:p>
            <a:pPr marL="0" indent="0">
              <a:buNone/>
            </a:pPr>
            <a:r>
              <a:rPr lang="fr-FR" sz="1800" dirty="0" smtClean="0"/>
              <a:t>                   </a:t>
            </a:r>
            <a:r>
              <a:rPr lang="fr-FR" sz="2400" b="1" dirty="0" smtClean="0"/>
              <a:t>2</a:t>
            </a:r>
            <a:r>
              <a:rPr lang="fr-FR" sz="2400" b="1" dirty="0"/>
              <a:t>. Distribution des features</a:t>
            </a:r>
          </a:p>
          <a:p>
            <a:pPr marL="0" indent="0">
              <a:buNone/>
            </a:pPr>
            <a:r>
              <a:rPr lang="fr-FR" sz="1800" dirty="0"/>
              <a:t>  </a:t>
            </a:r>
            <a:r>
              <a:rPr lang="fr-FR" sz="1800" dirty="0" smtClean="0"/>
              <a:t>                      </a:t>
            </a:r>
            <a:r>
              <a:rPr lang="fr-FR" sz="1800" dirty="0"/>
              <a:t>[Graphique : Histogrammes de Glucose, BMI, Âge]</a:t>
            </a:r>
          </a:p>
          <a:p>
            <a:pPr marL="0" indent="0">
              <a:buNone/>
            </a:pPr>
            <a:r>
              <a:rPr lang="fr-FR" sz="1800" dirty="0" smtClean="0"/>
              <a:t>                    </a:t>
            </a:r>
            <a:r>
              <a:rPr lang="fr-FR" sz="2400" b="1" dirty="0" smtClean="0"/>
              <a:t> 3</a:t>
            </a:r>
            <a:r>
              <a:rPr lang="fr-FR" sz="2400" b="1" dirty="0"/>
              <a:t>. Matrice de corrélation</a:t>
            </a:r>
          </a:p>
          <a:p>
            <a:pPr marL="0" indent="0">
              <a:buNone/>
            </a:pPr>
            <a:r>
              <a:rPr lang="fr-FR" sz="1800" dirty="0"/>
              <a:t> </a:t>
            </a:r>
            <a:r>
              <a:rPr lang="fr-FR" sz="1800" dirty="0" smtClean="0"/>
              <a:t>                        [</a:t>
            </a:r>
            <a:r>
              <a:rPr lang="fr-FR" sz="1800" dirty="0"/>
              <a:t>Graphique : Heatmap des corrélations]</a:t>
            </a:r>
          </a:p>
          <a:p>
            <a:pPr marL="0" indent="0">
              <a:buNone/>
            </a:pPr>
            <a:r>
              <a:rPr lang="fr-FR" sz="1800" dirty="0" smtClean="0"/>
              <a:t>                     </a:t>
            </a:r>
            <a:r>
              <a:rPr lang="fr-FR" sz="2400" b="1" dirty="0" smtClean="0"/>
              <a:t>4</a:t>
            </a:r>
            <a:r>
              <a:rPr lang="fr-FR" sz="2400" b="1" dirty="0"/>
              <a:t>. Observations clés :</a:t>
            </a:r>
          </a:p>
          <a:p>
            <a:pPr marL="0" indent="0">
              <a:buNone/>
            </a:pPr>
            <a:r>
              <a:rPr lang="fr-FR" sz="1800" dirty="0"/>
              <a:t> </a:t>
            </a:r>
            <a:r>
              <a:rPr lang="fr-FR" sz="1800" dirty="0" smtClean="0"/>
              <a:t>                         </a:t>
            </a:r>
            <a:r>
              <a:rPr lang="fr-FR" sz="1800" dirty="0"/>
              <a:t>- Glucose et BMI sont les features les plus corrélées avec le diabète</a:t>
            </a:r>
          </a:p>
          <a:p>
            <a:pPr marL="0" indent="0">
              <a:buNone/>
            </a:pPr>
            <a:r>
              <a:rPr lang="fr-FR" sz="1800" dirty="0"/>
              <a:t>  </a:t>
            </a:r>
            <a:r>
              <a:rPr lang="fr-FR" sz="1800" dirty="0" smtClean="0"/>
              <a:t>                        </a:t>
            </a:r>
            <a:r>
              <a:rPr lang="fr-FR" sz="1800" dirty="0"/>
              <a:t>- Âge et nombre de grossesses augmentent le risque</a:t>
            </a:r>
          </a:p>
          <a:p>
            <a:pPr marL="0" indent="0">
              <a:buNone/>
            </a:pPr>
            <a:r>
              <a:rPr lang="fr-FR" sz="1800" dirty="0" smtClean="0"/>
              <a:t>                          </a:t>
            </a:r>
            <a:r>
              <a:rPr lang="fr-FR" sz="1800" dirty="0"/>
              <a:t>- IMC élevé est un facteur de risque important</a:t>
            </a:r>
          </a:p>
        </p:txBody>
      </p:sp>
    </p:spTree>
    <p:extLst>
      <p:ext uri="{BB962C8B-B14F-4D97-AF65-F5344CB8AC3E}">
        <p14:creationId xmlns:p14="http://schemas.microsoft.com/office/powerpoint/2010/main" val="4004784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415011"/>
            <a:ext cx="9404723" cy="1093278"/>
          </a:xfrm>
        </p:spPr>
        <p:txBody>
          <a:bodyPr/>
          <a:lstStyle/>
          <a:p>
            <a:r>
              <a:rPr lang="fr-FR" dirty="0" smtClean="0"/>
              <a:t>       </a:t>
            </a:r>
            <a:r>
              <a:rPr lang="fr-FR" sz="4800" b="1" dirty="0" smtClean="0"/>
              <a:t>Préparation </a:t>
            </a:r>
            <a:r>
              <a:rPr lang="fr-FR" sz="4800" b="1" dirty="0"/>
              <a:t>des Données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4656" y="1423447"/>
            <a:ext cx="9257121" cy="5279011"/>
          </a:xfrm>
        </p:spPr>
        <p:txBody>
          <a:bodyPr>
            <a:normAutofit fontScale="47500" lnSpcReduction="20000"/>
          </a:bodyPr>
          <a:lstStyle/>
          <a:p>
            <a:endParaRPr lang="fr-FR" dirty="0"/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</a:t>
            </a:r>
            <a:r>
              <a:rPr lang="fr-FR" sz="3300" b="1" dirty="0" smtClean="0"/>
              <a:t>1</a:t>
            </a:r>
            <a:r>
              <a:rPr lang="fr-FR" sz="3300" b="1" dirty="0"/>
              <a:t>. Séparation Features / Target</a:t>
            </a:r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      </a:t>
            </a:r>
            <a:r>
              <a:rPr lang="fr-FR" sz="2500" b="1" dirty="0"/>
              <a:t>- X = 8 variables médicales</a:t>
            </a:r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     </a:t>
            </a:r>
            <a:r>
              <a:rPr lang="fr-FR" sz="2500" b="1" dirty="0"/>
              <a:t>- y = Outcome (0 ou 1)</a:t>
            </a:r>
          </a:p>
          <a:p>
            <a:endParaRPr lang="fr-FR" sz="2500" b="1" dirty="0"/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  </a:t>
            </a:r>
            <a:r>
              <a:rPr lang="fr-FR" sz="3300" b="1" dirty="0" smtClean="0"/>
              <a:t> 2</a:t>
            </a:r>
            <a:r>
              <a:rPr lang="fr-FR" sz="3300" b="1" dirty="0"/>
              <a:t>. Division des données</a:t>
            </a:r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           </a:t>
            </a:r>
            <a:r>
              <a:rPr lang="fr-FR" sz="2500" b="1" dirty="0"/>
              <a:t>- Train : 60%</a:t>
            </a:r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           </a:t>
            </a:r>
            <a:r>
              <a:rPr lang="fr-FR" sz="2500" b="1" dirty="0"/>
              <a:t>- Validation : 20%</a:t>
            </a:r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           </a:t>
            </a:r>
            <a:r>
              <a:rPr lang="fr-FR" sz="2500" b="1" dirty="0"/>
              <a:t>- Test : 20%</a:t>
            </a:r>
          </a:p>
          <a:p>
            <a:endParaRPr lang="fr-FR" sz="2500" b="1" dirty="0"/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    </a:t>
            </a:r>
            <a:r>
              <a:rPr lang="fr-FR" sz="3300" b="1" dirty="0" smtClean="0"/>
              <a:t>3</a:t>
            </a:r>
            <a:r>
              <a:rPr lang="fr-FR" sz="3300" b="1" dirty="0"/>
              <a:t>. Normalisation</a:t>
            </a:r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         </a:t>
            </a:r>
            <a:r>
              <a:rPr lang="fr-FR" sz="2500" b="1" dirty="0"/>
              <a:t>- Utilisation de StandardScaler</a:t>
            </a:r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         </a:t>
            </a:r>
            <a:r>
              <a:rPr lang="fr-FR" sz="2500" b="1" dirty="0"/>
              <a:t>- Moyenne = 0, Écart-type = 1</a:t>
            </a:r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        </a:t>
            </a:r>
            <a:r>
              <a:rPr lang="fr-FR" sz="2500" b="1" dirty="0"/>
              <a:t>- Pour éviter le biais des échelles</a:t>
            </a:r>
          </a:p>
          <a:p>
            <a:endParaRPr lang="fr-FR" sz="2500" b="1" dirty="0"/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</a:t>
            </a:r>
            <a:r>
              <a:rPr lang="fr-FR" sz="3300" b="1" dirty="0" smtClean="0"/>
              <a:t>4</a:t>
            </a:r>
            <a:r>
              <a:rPr lang="fr-FR" sz="3300" b="1" dirty="0"/>
              <a:t>. Encodage</a:t>
            </a:r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     </a:t>
            </a:r>
            <a:r>
              <a:rPr lang="fr-FR" sz="2500" b="1" dirty="0"/>
              <a:t>- Pas de variables catégorielles</a:t>
            </a:r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                    </a:t>
            </a:r>
            <a:r>
              <a:rPr lang="fr-FR" sz="2500" b="1" dirty="0"/>
              <a:t>- Données déjà numériques</a:t>
            </a:r>
          </a:p>
        </p:txBody>
      </p:sp>
    </p:spTree>
    <p:extLst>
      <p:ext uri="{BB962C8B-B14F-4D97-AF65-F5344CB8AC3E}">
        <p14:creationId xmlns:p14="http://schemas.microsoft.com/office/powerpoint/2010/main" val="588989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49839"/>
          </a:xfrm>
        </p:spPr>
        <p:txBody>
          <a:bodyPr/>
          <a:lstStyle/>
          <a:p>
            <a:r>
              <a:rPr lang="fr-FR" sz="5400" b="1" dirty="0" smtClean="0"/>
              <a:t>         Modèles </a:t>
            </a:r>
            <a:r>
              <a:rPr lang="fr-FR" sz="5400" b="1" dirty="0"/>
              <a:t>utilisés</a:t>
            </a:r>
            <a:br>
              <a:rPr lang="fr-FR" sz="5400" b="1" dirty="0"/>
            </a:br>
            <a:endParaRPr lang="fr-FR" sz="54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49692" y="1329179"/>
            <a:ext cx="7390614" cy="51941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3600" b="1" dirty="0"/>
              <a:t>1. KNN (K-</a:t>
            </a:r>
            <a:r>
              <a:rPr lang="fr-FR" sz="3600" b="1" dirty="0" err="1"/>
              <a:t>Nearest</a:t>
            </a:r>
            <a:r>
              <a:rPr lang="fr-FR" sz="3600" b="1" dirty="0"/>
              <a:t> Neighbors)</a:t>
            </a:r>
          </a:p>
          <a:p>
            <a:pPr marL="0" indent="0">
              <a:buNone/>
            </a:pPr>
            <a:r>
              <a:rPr lang="fr-FR" sz="2100" dirty="0"/>
              <a:t>   - Basé sur la distance entre les points</a:t>
            </a:r>
          </a:p>
          <a:p>
            <a:pPr marL="0" indent="0">
              <a:buNone/>
            </a:pPr>
            <a:r>
              <a:rPr lang="fr-FR" sz="2100" dirty="0"/>
              <a:t>   - Paramètre : K = 5</a:t>
            </a:r>
          </a:p>
          <a:p>
            <a:pPr marL="0" indent="0">
              <a:buNone/>
            </a:pPr>
            <a:r>
              <a:rPr lang="fr-FR" sz="2100" dirty="0"/>
              <a:t>   - Simple et interprétable</a:t>
            </a:r>
          </a:p>
          <a:p>
            <a:pPr marL="0" indent="0">
              <a:buNone/>
            </a:pPr>
            <a:r>
              <a:rPr lang="fr-FR" sz="3600" b="1" dirty="0" smtClean="0"/>
              <a:t>2</a:t>
            </a:r>
            <a:r>
              <a:rPr lang="fr-FR" sz="3600" b="1" dirty="0"/>
              <a:t>. XGBoost (Extreme Gradient Boosting)</a:t>
            </a:r>
          </a:p>
          <a:p>
            <a:pPr marL="0" indent="0">
              <a:buNone/>
            </a:pPr>
            <a:r>
              <a:rPr lang="fr-FR" sz="2100" dirty="0"/>
              <a:t>   - Algorithme de boosting</a:t>
            </a:r>
          </a:p>
          <a:p>
            <a:pPr marL="0" indent="0">
              <a:buNone/>
            </a:pPr>
            <a:r>
              <a:rPr lang="fr-FR" sz="2100" dirty="0"/>
              <a:t>   - 100 estimateurs, </a:t>
            </a:r>
            <a:r>
              <a:rPr lang="fr-FR" sz="2100" dirty="0" err="1"/>
              <a:t>learning_rate</a:t>
            </a:r>
            <a:r>
              <a:rPr lang="fr-FR" sz="2100" dirty="0"/>
              <a:t> = 0.1</a:t>
            </a:r>
          </a:p>
          <a:p>
            <a:pPr marL="0" indent="0">
              <a:buNone/>
            </a:pPr>
            <a:r>
              <a:rPr lang="fr-FR" sz="2100" dirty="0"/>
              <a:t>   - Très performant </a:t>
            </a:r>
            <a:r>
              <a:rPr lang="fr-FR" sz="2100" dirty="0" smtClean="0"/>
              <a:t>  </a:t>
            </a:r>
            <a:r>
              <a:rPr lang="fr-FR" sz="2100" dirty="0"/>
              <a:t>MEILLEUR MODÈLE</a:t>
            </a:r>
          </a:p>
          <a:p>
            <a:endParaRPr lang="fr-FR" sz="2100" dirty="0"/>
          </a:p>
          <a:p>
            <a:pPr marL="0" indent="0">
              <a:buNone/>
            </a:pPr>
            <a:r>
              <a:rPr lang="fr-FR" sz="4000" b="1" dirty="0"/>
              <a:t>3. LightGBM (Light Gradient Boosting)</a:t>
            </a:r>
          </a:p>
          <a:p>
            <a:pPr marL="0" indent="0">
              <a:buNone/>
            </a:pPr>
            <a:r>
              <a:rPr lang="fr-FR" sz="2100" dirty="0"/>
              <a:t>   - Boosting optimisé pour la rapidité</a:t>
            </a:r>
          </a:p>
          <a:p>
            <a:pPr marL="0" indent="0">
              <a:buNone/>
            </a:pPr>
            <a:r>
              <a:rPr lang="fr-FR" sz="2100" dirty="0"/>
              <a:t>   - 100 estimateurs, </a:t>
            </a:r>
            <a:r>
              <a:rPr lang="fr-FR" sz="2100" dirty="0" err="1"/>
              <a:t>learning_rate</a:t>
            </a:r>
            <a:r>
              <a:rPr lang="fr-FR" sz="2100" dirty="0"/>
              <a:t> = 0.1</a:t>
            </a:r>
          </a:p>
          <a:p>
            <a:pPr marL="0" indent="0">
              <a:buNone/>
            </a:pPr>
            <a:r>
              <a:rPr lang="fr-FR" sz="2100" dirty="0"/>
              <a:t>   - Rapide et efficace</a:t>
            </a:r>
          </a:p>
        </p:txBody>
      </p:sp>
    </p:spTree>
    <p:extLst>
      <p:ext uri="{BB962C8B-B14F-4D97-AF65-F5344CB8AC3E}">
        <p14:creationId xmlns:p14="http://schemas.microsoft.com/office/powerpoint/2010/main" val="2341153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83851"/>
          </a:xfrm>
        </p:spPr>
        <p:txBody>
          <a:bodyPr/>
          <a:lstStyle/>
          <a:p>
            <a:r>
              <a:rPr lang="fr-FR" dirty="0" smtClean="0"/>
              <a:t>           </a:t>
            </a:r>
            <a:r>
              <a:rPr lang="fr-FR" sz="4800" b="1" dirty="0" smtClean="0"/>
              <a:t>Évaluation </a:t>
            </a:r>
            <a:r>
              <a:rPr lang="fr-FR" sz="4800" b="1" dirty="0"/>
              <a:t>des Modèles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42301" y="1055801"/>
            <a:ext cx="9398524" cy="5297865"/>
          </a:xfrm>
        </p:spPr>
        <p:txBody>
          <a:bodyPr>
            <a:noAutofit/>
          </a:bodyPr>
          <a:lstStyle/>
          <a:p>
            <a:endParaRPr lang="fr-FR" sz="1600" dirty="0"/>
          </a:p>
          <a:p>
            <a:pPr marL="0" indent="0">
              <a:buNone/>
            </a:pPr>
            <a:r>
              <a:rPr lang="fr-FR" sz="1600" dirty="0" smtClean="0"/>
              <a:t>                                </a:t>
            </a:r>
            <a:r>
              <a:rPr lang="fr-FR" b="1" dirty="0" smtClean="0"/>
              <a:t>Métriques </a:t>
            </a:r>
            <a:r>
              <a:rPr lang="fr-FR" b="1" dirty="0"/>
              <a:t>utilisées :</a:t>
            </a:r>
          </a:p>
          <a:p>
            <a:pPr marL="0" indent="0">
              <a:buNone/>
            </a:pPr>
            <a:r>
              <a:rPr lang="fr-FR" sz="1600" dirty="0" smtClean="0"/>
              <a:t>                                          - Accuracy </a:t>
            </a:r>
            <a:r>
              <a:rPr lang="fr-FR" sz="1600" dirty="0"/>
              <a:t>: Pourcentage de bonnes prédictions</a:t>
            </a:r>
          </a:p>
          <a:p>
            <a:pPr marL="0" indent="0">
              <a:buNone/>
            </a:pPr>
            <a:r>
              <a:rPr lang="fr-FR" sz="1600" dirty="0" smtClean="0"/>
              <a:t>                                          - </a:t>
            </a:r>
            <a:r>
              <a:rPr lang="fr-FR" sz="1600" dirty="0"/>
              <a:t>Precision : Proportion de vrais positifs</a:t>
            </a:r>
          </a:p>
          <a:p>
            <a:pPr marL="0" indent="0">
              <a:buNone/>
            </a:pPr>
            <a:r>
              <a:rPr lang="fr-FR" sz="1600" dirty="0" smtClean="0"/>
              <a:t>                                          - </a:t>
            </a:r>
            <a:r>
              <a:rPr lang="fr-FR" sz="1600" dirty="0"/>
              <a:t>Recall : Proportion de cas détectés</a:t>
            </a:r>
          </a:p>
          <a:p>
            <a:pPr marL="0" indent="0">
              <a:buNone/>
            </a:pPr>
            <a:r>
              <a:rPr lang="fr-FR" sz="1600" dirty="0" smtClean="0"/>
              <a:t>                                          - </a:t>
            </a:r>
            <a:r>
              <a:rPr lang="fr-FR" sz="1600" dirty="0"/>
              <a:t>F1-Score : Moyenne harmonique Precision/Recall</a:t>
            </a:r>
          </a:p>
          <a:p>
            <a:pPr marL="0" indent="0">
              <a:buNone/>
            </a:pPr>
            <a:r>
              <a:rPr lang="fr-FR" sz="1600" dirty="0" smtClean="0"/>
              <a:t>                                           - </a:t>
            </a:r>
            <a:r>
              <a:rPr lang="fr-FR" sz="1600" dirty="0"/>
              <a:t>ROC-AUC : Capacité à distinguer les classes</a:t>
            </a:r>
          </a:p>
          <a:p>
            <a:pPr marL="0" indent="0">
              <a:buNone/>
            </a:pPr>
            <a:r>
              <a:rPr lang="fr-FR" sz="1600" dirty="0" smtClean="0"/>
              <a:t>                               </a:t>
            </a:r>
            <a:r>
              <a:rPr lang="fr-FR" b="1" dirty="0" smtClean="0"/>
              <a:t> Résultats </a:t>
            </a:r>
            <a:r>
              <a:rPr lang="fr-FR" b="1" dirty="0"/>
              <a:t>:</a:t>
            </a:r>
          </a:p>
          <a:p>
            <a:pPr marL="0" indent="0">
              <a:buNone/>
            </a:pPr>
            <a:r>
              <a:rPr lang="fr-FR" sz="1600" dirty="0" smtClean="0"/>
              <a:t>                                     Modèle      </a:t>
            </a:r>
            <a:r>
              <a:rPr lang="fr-FR" sz="1600" dirty="0"/>
              <a:t>Accuracy  </a:t>
            </a:r>
            <a:r>
              <a:rPr lang="fr-FR" sz="1600" dirty="0" smtClean="0"/>
              <a:t>     Précision       </a:t>
            </a:r>
            <a:r>
              <a:rPr lang="fr-FR" sz="1600" dirty="0"/>
              <a:t>Recall </a:t>
            </a:r>
            <a:r>
              <a:rPr lang="fr-FR" sz="1600" dirty="0" smtClean="0"/>
              <a:t>   F1-Score </a:t>
            </a:r>
            <a:endParaRPr lang="fr-FR" sz="1600" dirty="0"/>
          </a:p>
          <a:p>
            <a:pPr marL="0" indent="0">
              <a:buNone/>
            </a:pPr>
            <a:r>
              <a:rPr lang="fr-FR" sz="1600" dirty="0" smtClean="0"/>
              <a:t>                                     KNN             </a:t>
            </a:r>
            <a:r>
              <a:rPr lang="fr-FR" sz="1600" dirty="0"/>
              <a:t>0.8117  </a:t>
            </a:r>
            <a:r>
              <a:rPr lang="fr-FR" sz="1600" dirty="0" smtClean="0"/>
              <a:t>           </a:t>
            </a:r>
            <a:r>
              <a:rPr lang="fr-FR" sz="1600" dirty="0"/>
              <a:t>0.78   </a:t>
            </a:r>
            <a:r>
              <a:rPr lang="fr-FR" sz="1600" dirty="0" smtClean="0"/>
              <a:t>        0.76              </a:t>
            </a:r>
            <a:r>
              <a:rPr lang="fr-FR" sz="1600" dirty="0"/>
              <a:t>0.77     </a:t>
            </a:r>
          </a:p>
          <a:p>
            <a:pPr marL="0" indent="0">
              <a:buNone/>
            </a:pPr>
            <a:r>
              <a:rPr lang="fr-FR" sz="1600" dirty="0" smtClean="0"/>
              <a:t>                                    XGBoost      0.8701              0.81           </a:t>
            </a:r>
            <a:r>
              <a:rPr lang="fr-FR" sz="1600" dirty="0"/>
              <a:t>0.81   </a:t>
            </a:r>
            <a:r>
              <a:rPr lang="fr-FR" sz="1600" dirty="0" smtClean="0"/>
              <a:t>            </a:t>
            </a:r>
            <a:r>
              <a:rPr lang="fr-FR" sz="1600" dirty="0"/>
              <a:t>0.81     </a:t>
            </a:r>
          </a:p>
          <a:p>
            <a:pPr marL="0" indent="0">
              <a:buNone/>
            </a:pPr>
            <a:r>
              <a:rPr lang="fr-FR" sz="1600" dirty="0" smtClean="0"/>
              <a:t>                                    LightGBM     </a:t>
            </a:r>
            <a:r>
              <a:rPr lang="fr-FR" sz="1600" dirty="0"/>
              <a:t>0.8636   </a:t>
            </a:r>
            <a:r>
              <a:rPr lang="fr-FR" sz="1600" dirty="0" smtClean="0"/>
              <a:t>          </a:t>
            </a:r>
            <a:r>
              <a:rPr lang="fr-FR" sz="1600" dirty="0"/>
              <a:t>0.81  </a:t>
            </a:r>
            <a:r>
              <a:rPr lang="fr-FR" sz="1600" dirty="0" smtClean="0"/>
              <a:t>      0.80                </a:t>
            </a:r>
            <a:r>
              <a:rPr lang="fr-FR" sz="1600" dirty="0"/>
              <a:t>0.80     </a:t>
            </a:r>
            <a:r>
              <a:rPr lang="fr-FR" sz="1600" dirty="0" smtClean="0"/>
              <a:t>                            </a:t>
            </a:r>
          </a:p>
          <a:p>
            <a:pPr marL="0" indent="0">
              <a:buNone/>
            </a:pPr>
            <a:r>
              <a:rPr lang="fr-FR" sz="1600" b="1" dirty="0"/>
              <a:t> </a:t>
            </a:r>
            <a:r>
              <a:rPr lang="fr-FR" sz="1600" b="1" dirty="0" smtClean="0"/>
              <a:t>                    </a:t>
            </a:r>
            <a:r>
              <a:rPr lang="fr-FR" sz="1800" b="1" dirty="0" smtClean="0"/>
              <a:t>MEILLEUR MODÈLE RETENU ET SAUVEGARDE </a:t>
            </a:r>
            <a:r>
              <a:rPr lang="fr-FR" sz="1800" b="1" dirty="0"/>
              <a:t>: XGBoost (87.01%)</a:t>
            </a:r>
          </a:p>
        </p:txBody>
      </p:sp>
    </p:spTree>
    <p:extLst>
      <p:ext uri="{BB962C8B-B14F-4D97-AF65-F5344CB8AC3E}">
        <p14:creationId xmlns:p14="http://schemas.microsoft.com/office/powerpoint/2010/main" val="3548290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301658"/>
            <a:ext cx="9404723" cy="876693"/>
          </a:xfrm>
        </p:spPr>
        <p:txBody>
          <a:bodyPr/>
          <a:lstStyle/>
          <a:p>
            <a:r>
              <a:rPr lang="fr-FR" dirty="0" smtClean="0"/>
              <a:t>             </a:t>
            </a:r>
            <a:r>
              <a:rPr lang="fr-FR" sz="4800" b="1" dirty="0" smtClean="0"/>
              <a:t>Déploiement </a:t>
            </a:r>
            <a:r>
              <a:rPr lang="fr-FR" sz="4800" b="1" dirty="0"/>
              <a:t>en ligne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03311" y="1178351"/>
            <a:ext cx="9548977" cy="5467546"/>
          </a:xfrm>
        </p:spPr>
        <p:txBody>
          <a:bodyPr>
            <a:normAutofit fontScale="77500" lnSpcReduction="20000"/>
          </a:bodyPr>
          <a:lstStyle/>
          <a:p>
            <a:endParaRPr lang="fr-FR" dirty="0"/>
          </a:p>
          <a:p>
            <a:pPr marL="0" indent="0">
              <a:buNone/>
            </a:pPr>
            <a:r>
              <a:rPr lang="fr-FR" dirty="0" smtClean="0"/>
              <a:t>                                                                </a:t>
            </a:r>
            <a:r>
              <a:rPr lang="fr-FR" sz="2900" b="1" dirty="0" smtClean="0"/>
              <a:t>Plateforme </a:t>
            </a:r>
            <a:r>
              <a:rPr lang="fr-FR" sz="2900" b="1" dirty="0"/>
              <a:t>utilisée : Render </a:t>
            </a:r>
            <a:endParaRPr lang="fr-FR" b="1" dirty="0"/>
          </a:p>
          <a:p>
            <a:endParaRPr lang="fr-FR" dirty="0"/>
          </a:p>
          <a:p>
            <a:pPr marL="0" indent="0">
              <a:buNone/>
            </a:pPr>
            <a:r>
              <a:rPr lang="fr-FR" dirty="0" smtClean="0"/>
              <a:t>                                                                  </a:t>
            </a:r>
            <a:r>
              <a:rPr lang="fr-FR" sz="2900" b="1" dirty="0" smtClean="0"/>
              <a:t>Étapes </a:t>
            </a:r>
            <a:r>
              <a:rPr lang="fr-FR" sz="2900" b="1" dirty="0"/>
              <a:t>de déploiement :</a:t>
            </a:r>
          </a:p>
          <a:p>
            <a:pPr marL="0" indent="0">
              <a:buNone/>
            </a:pPr>
            <a:r>
              <a:rPr lang="fr-FR" dirty="0" smtClean="0"/>
              <a:t>                                                               1</a:t>
            </a:r>
            <a:r>
              <a:rPr lang="fr-FR" dirty="0"/>
              <a:t>. Hébergement sur Render</a:t>
            </a:r>
          </a:p>
          <a:p>
            <a:pPr marL="0" indent="0">
              <a:buNone/>
            </a:pPr>
            <a:r>
              <a:rPr lang="fr-FR" dirty="0" smtClean="0"/>
              <a:t>                                                               2</a:t>
            </a:r>
            <a:r>
              <a:rPr lang="fr-FR" dirty="0"/>
              <a:t>. Configuration des variables d'environnement</a:t>
            </a:r>
          </a:p>
          <a:p>
            <a:pPr marL="0" indent="0">
              <a:buNone/>
            </a:pPr>
            <a:r>
              <a:rPr lang="fr-FR" dirty="0" smtClean="0"/>
              <a:t>                                                              3</a:t>
            </a:r>
            <a:r>
              <a:rPr lang="fr-FR" dirty="0"/>
              <a:t>. Build et déploiement automatique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sz="2500" b="1" dirty="0" smtClean="0"/>
              <a:t>                                                           Technologies </a:t>
            </a:r>
            <a:r>
              <a:rPr lang="fr-FR" sz="2500" b="1" dirty="0"/>
              <a:t>utilisées :</a:t>
            </a:r>
          </a:p>
          <a:p>
            <a:pPr marL="0" indent="0">
              <a:buNone/>
            </a:pPr>
            <a:r>
              <a:rPr lang="fr-FR" dirty="0" smtClean="0"/>
              <a:t>                                                                 - </a:t>
            </a:r>
            <a:r>
              <a:rPr lang="fr-FR" dirty="0"/>
              <a:t>Backend : Flask (Python)</a:t>
            </a:r>
          </a:p>
          <a:p>
            <a:pPr marL="0" indent="0">
              <a:buNone/>
            </a:pPr>
            <a:r>
              <a:rPr lang="fr-FR" dirty="0" smtClean="0"/>
              <a:t>                                                                 - </a:t>
            </a:r>
            <a:r>
              <a:rPr lang="fr-FR" dirty="0"/>
              <a:t>Frontend : HTML, CSS, JavaScript</a:t>
            </a:r>
          </a:p>
          <a:p>
            <a:pPr marL="0" indent="0">
              <a:buNone/>
            </a:pPr>
            <a:r>
              <a:rPr lang="fr-FR" dirty="0" smtClean="0"/>
              <a:t>                                                                 - </a:t>
            </a:r>
            <a:r>
              <a:rPr lang="fr-FR" dirty="0"/>
              <a:t>Base de données : SQLite</a:t>
            </a:r>
          </a:p>
          <a:p>
            <a:pPr marL="0" indent="0">
              <a:buNone/>
            </a:pPr>
            <a:r>
              <a:rPr lang="fr-FR" dirty="0" smtClean="0"/>
              <a:t>                                                                 - </a:t>
            </a:r>
            <a:r>
              <a:rPr lang="fr-FR" dirty="0"/>
              <a:t>Modèle : XGBoost (joblib)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 smtClean="0"/>
              <a:t>                                                              </a:t>
            </a:r>
            <a:r>
              <a:rPr lang="fr-FR" sz="2500" b="1" dirty="0" smtClean="0"/>
              <a:t>  URL </a:t>
            </a:r>
            <a:r>
              <a:rPr lang="fr-FR" sz="2500" b="1" dirty="0"/>
              <a:t>de l'application :</a:t>
            </a:r>
          </a:p>
          <a:p>
            <a:pPr marL="0" indent="0">
              <a:buNone/>
            </a:pPr>
            <a:r>
              <a:rPr lang="fr-FR" dirty="0" smtClean="0"/>
              <a:t>                                                             https://diabpredict-4-g9h0.onrender.com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896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-122548"/>
            <a:ext cx="9808215" cy="631595"/>
          </a:xfrm>
        </p:spPr>
        <p:txBody>
          <a:bodyPr/>
          <a:lstStyle/>
          <a:p>
            <a:r>
              <a:rPr lang="en-US" dirty="0" smtClean="0"/>
              <a:t>        </a:t>
            </a:r>
            <a:r>
              <a:rPr lang="en-US" sz="4400" b="1" dirty="0" smtClean="0"/>
              <a:t>Fonctinnalites del’Application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60775" y="509047"/>
            <a:ext cx="7814821" cy="63489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000" dirty="0" smtClean="0"/>
              <a:t>                                                           </a:t>
            </a:r>
            <a:r>
              <a:rPr lang="fr-FR" sz="1000" b="1" dirty="0" smtClean="0"/>
              <a:t>Prédiction </a:t>
            </a:r>
            <a:r>
              <a:rPr lang="fr-FR" sz="1000" b="1" dirty="0"/>
              <a:t>en temps réel</a:t>
            </a:r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-Saisie </a:t>
            </a:r>
            <a:r>
              <a:rPr lang="fr-FR" sz="1000" dirty="0"/>
              <a:t>des 8 </a:t>
            </a:r>
            <a:r>
              <a:rPr lang="fr-FR" sz="1000" dirty="0" smtClean="0"/>
              <a:t>paramètres</a:t>
            </a:r>
          </a:p>
          <a:p>
            <a:pPr marL="457200" lvl="1" indent="0">
              <a:buNone/>
            </a:pPr>
            <a:r>
              <a:rPr lang="fr-FR" sz="1000" dirty="0"/>
              <a:t> </a:t>
            </a:r>
            <a:r>
              <a:rPr lang="fr-FR" sz="1000" dirty="0" smtClean="0"/>
              <a:t>                                                  </a:t>
            </a:r>
            <a:r>
              <a:rPr lang="fr-FR" sz="1000" dirty="0" smtClean="0"/>
              <a:t> -Résultat </a:t>
            </a:r>
            <a:r>
              <a:rPr lang="fr-FR" sz="1000" dirty="0"/>
              <a:t>instantané avec probabilité</a:t>
            </a:r>
          </a:p>
          <a:p>
            <a:pPr marL="0" indent="0">
              <a:buNone/>
            </a:pPr>
            <a:r>
              <a:rPr lang="fr-FR" sz="1000" dirty="0" smtClean="0"/>
              <a:t>                                                                  </a:t>
            </a:r>
            <a:r>
              <a:rPr lang="fr-FR" sz="1000" b="1" dirty="0" smtClean="0"/>
              <a:t>Base </a:t>
            </a:r>
            <a:r>
              <a:rPr lang="fr-FR" sz="1000" b="1" dirty="0"/>
              <a:t>de données SQLite</a:t>
            </a:r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      Sauvegarde:</a:t>
            </a:r>
          </a:p>
          <a:p>
            <a:pPr marL="457200" lvl="1" indent="0">
              <a:buNone/>
            </a:pPr>
            <a:r>
              <a:rPr lang="fr-FR" sz="1000" dirty="0"/>
              <a:t> </a:t>
            </a:r>
            <a:r>
              <a:rPr lang="fr-FR" sz="1000" dirty="0" smtClean="0"/>
              <a:t>                                                                -</a:t>
            </a:r>
            <a:r>
              <a:rPr lang="fr-FR" sz="1000" dirty="0" smtClean="0"/>
              <a:t> </a:t>
            </a:r>
            <a:r>
              <a:rPr lang="fr-FR" sz="1000" dirty="0"/>
              <a:t>des patients </a:t>
            </a:r>
            <a:r>
              <a:rPr lang="fr-FR" sz="1000" dirty="0" smtClean="0"/>
              <a:t>et</a:t>
            </a:r>
          </a:p>
          <a:p>
            <a:pPr marL="457200" lvl="1" indent="0">
              <a:buNone/>
            </a:pPr>
            <a:r>
              <a:rPr lang="fr-FR" sz="1000" dirty="0"/>
              <a:t> </a:t>
            </a:r>
            <a:r>
              <a:rPr lang="fr-FR" sz="1000" dirty="0" smtClean="0"/>
              <a:t>                                                                  -</a:t>
            </a:r>
            <a:r>
              <a:rPr lang="fr-FR" sz="1000" dirty="0" smtClean="0"/>
              <a:t> </a:t>
            </a:r>
            <a:r>
              <a:rPr lang="fr-FR" sz="1000" dirty="0"/>
              <a:t>prédictions</a:t>
            </a:r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          -Historique complet(global et détaillé).</a:t>
            </a:r>
            <a:endParaRPr lang="fr-FR" sz="1000" dirty="0"/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          -Statistiques </a:t>
            </a:r>
            <a:r>
              <a:rPr lang="fr-FR" sz="1000" dirty="0"/>
              <a:t>globales</a:t>
            </a:r>
          </a:p>
          <a:p>
            <a:pPr marL="0" indent="0">
              <a:buNone/>
            </a:pPr>
            <a:r>
              <a:rPr lang="fr-FR" sz="1000" dirty="0" smtClean="0"/>
              <a:t>                                                               </a:t>
            </a:r>
            <a:r>
              <a:rPr lang="fr-FR" sz="1000" b="1" dirty="0" smtClean="0"/>
              <a:t>CRUD complet(</a:t>
            </a:r>
            <a:r>
              <a:rPr lang="fr-FR" sz="1000" b="1" dirty="0" err="1" smtClean="0"/>
              <a:t>create,Read</a:t>
            </a:r>
            <a:r>
              <a:rPr lang="fr-FR" sz="1000" b="1" dirty="0" smtClean="0"/>
              <a:t> ,update and delete)</a:t>
            </a:r>
            <a:endParaRPr lang="fr-FR" sz="1000" b="1" dirty="0"/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  </a:t>
            </a:r>
            <a:r>
              <a:rPr lang="fr-FR" sz="1000" b="1" dirty="0" smtClean="0"/>
              <a:t>Créer </a:t>
            </a:r>
            <a:r>
              <a:rPr lang="fr-FR" sz="1000" b="1" dirty="0"/>
              <a:t>: Ajouter un patient</a:t>
            </a:r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 Lire </a:t>
            </a:r>
            <a:r>
              <a:rPr lang="fr-FR" sz="1000" dirty="0"/>
              <a:t>: Voir l'historique</a:t>
            </a:r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Modifier </a:t>
            </a:r>
            <a:r>
              <a:rPr lang="fr-FR" sz="1000" dirty="0"/>
              <a:t>: Corriger les données</a:t>
            </a:r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Supprimer </a:t>
            </a:r>
            <a:r>
              <a:rPr lang="fr-FR" sz="1000" dirty="0"/>
              <a:t>: Effacer une entrée</a:t>
            </a:r>
          </a:p>
          <a:p>
            <a:pPr marL="0" indent="0">
              <a:buNone/>
            </a:pPr>
            <a:r>
              <a:rPr lang="fr-FR" sz="1000" dirty="0" smtClean="0"/>
              <a:t>                                                                      </a:t>
            </a:r>
            <a:r>
              <a:rPr lang="fr-FR" sz="1000" b="1" dirty="0" smtClean="0"/>
              <a:t>Rapports:</a:t>
            </a:r>
            <a:endParaRPr lang="fr-FR" sz="1000" b="1" dirty="0"/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      -Rapport </a:t>
            </a:r>
            <a:r>
              <a:rPr lang="fr-FR" sz="1000" dirty="0"/>
              <a:t>individuel par patient</a:t>
            </a:r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     -Rapport </a:t>
            </a:r>
            <a:r>
              <a:rPr lang="fr-FR" sz="1000" dirty="0"/>
              <a:t>global (toutes les prédictions)</a:t>
            </a:r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     -Impression </a:t>
            </a:r>
            <a:r>
              <a:rPr lang="fr-FR" sz="1000" dirty="0"/>
              <a:t>des rapports</a:t>
            </a:r>
          </a:p>
          <a:p>
            <a:pPr marL="0" indent="0">
              <a:buNone/>
            </a:pPr>
            <a:r>
              <a:rPr lang="fr-FR" sz="1000" b="1" dirty="0" smtClean="0"/>
              <a:t>                                                                    Interface </a:t>
            </a:r>
            <a:r>
              <a:rPr lang="fr-FR" sz="1000" b="1" dirty="0"/>
              <a:t>professionnelle</a:t>
            </a:r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       -Navigation </a:t>
            </a:r>
            <a:r>
              <a:rPr lang="fr-FR" sz="1000" dirty="0"/>
              <a:t>intuitive</a:t>
            </a:r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        -Design </a:t>
            </a:r>
            <a:r>
              <a:rPr lang="fr-FR" sz="1000" dirty="0"/>
              <a:t>responsive</a:t>
            </a:r>
          </a:p>
          <a:p>
            <a:pPr marL="457200" lvl="1" indent="0">
              <a:buNone/>
            </a:pPr>
            <a:r>
              <a:rPr lang="fr-FR" sz="1000" dirty="0" smtClean="0"/>
              <a:t>                                                                -Visualisation </a:t>
            </a:r>
            <a:r>
              <a:rPr lang="fr-FR" sz="1000" dirty="0"/>
              <a:t>des statistiques</a:t>
            </a:r>
          </a:p>
          <a:p>
            <a:pPr marL="0" indent="0">
              <a:buNone/>
            </a:pPr>
            <a:r>
              <a:rPr lang="fr-FR" sz="1000" dirty="0"/>
              <a:t/>
            </a:r>
            <a:br>
              <a:rPr lang="fr-FR" sz="1000" dirty="0"/>
            </a:b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6351641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502</TotalTime>
  <Words>902</Words>
  <Application>Microsoft Office PowerPoint</Application>
  <PresentationFormat>Grand écran</PresentationFormat>
  <Paragraphs>168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Arial Black</vt:lpstr>
      <vt:lpstr>Century Gothic</vt:lpstr>
      <vt:lpstr>Wingdings 3</vt:lpstr>
      <vt:lpstr>Ion</vt:lpstr>
      <vt:lpstr>        PRESENTATION DEL’APPLICATION DE PREDICTION DE DIABETE                                          DiabPredict </vt:lpstr>
      <vt:lpstr>       Plan de la présentation</vt:lpstr>
      <vt:lpstr>          Introduction</vt:lpstr>
      <vt:lpstr>         Objectifs du projet</vt:lpstr>
      <vt:lpstr>Le Dataset : Pima Indians Diabetes</vt:lpstr>
      <vt:lpstr>Analyse Exploratoire des Données</vt:lpstr>
      <vt:lpstr>       Préparation des Données</vt:lpstr>
      <vt:lpstr>         Modèles utilisés </vt:lpstr>
      <vt:lpstr>           Évaluation des Modèles</vt:lpstr>
      <vt:lpstr>             Déploiement en ligne</vt:lpstr>
      <vt:lpstr>        Fonctinnalites del’Application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DiabPredict Prédiction du Diabète par Intelligence Artificielle Cas des femmes Projet de Machine Learning Domaine : Santé  Réalisé par : - MUSHOBOZI MUNGOBIJIRA Affable -  Amani Sukuwabo Bravo  Date : Juillet 2026</dc:title>
  <dc:creator>Affable Mushbozi</dc:creator>
  <cp:lastModifiedBy>Affable Mushbozi</cp:lastModifiedBy>
  <cp:revision>19</cp:revision>
  <dcterms:created xsi:type="dcterms:W3CDTF">2026-07-14T06:26:02Z</dcterms:created>
  <dcterms:modified xsi:type="dcterms:W3CDTF">2026-07-14T15:21:19Z</dcterms:modified>
</cp:coreProperties>
</file>
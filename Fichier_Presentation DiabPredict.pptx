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8" d="100"/>
          <a:sy n="68" d="100"/>
        </p:scale>
        <p:origin x="61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fr-FR" smtClean="0"/>
              <a:t>Modifiez le style du titre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fr-FR" smtClean="0"/>
              <a:t>Modifiez le style du titre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9796027F-7875-4030-9381-8BD8C4F21935}"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dirty="0"/>
              <a:t>7/14/2026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smtClean="0"/>
              <a:t>Modifiez le style du titre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dirty="0"/>
              <a:t>7/14/2026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fr-FR" smtClean="0"/>
              <a:t>Modifiez le style du titre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7" name="Date Placeholder 4"/>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4509A250-FF31-4206-8172-F9D3106AACB1}" type="datetimeFigureOut">
              <a:rPr lang="en-US" dirty="0"/>
              <a:t>7/14/2026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4509A250-FF31-4206-8172-F9D3106AACB1}" type="datetimeFigureOut">
              <a:rPr lang="en-US" dirty="0"/>
              <a:t>7/14/2026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fr-FR" smtClean="0"/>
              <a:t>Modifiez le style du titre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fr-FR" smtClean="0"/>
              <a:t>Modifiez le style du titre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fr-FR" smtClean="0"/>
              <a:t>Modifier les styles du texte du masque</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fr-FR" smtClean="0"/>
              <a:t>Modifiez le style du titre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fr-FR" smtClean="0"/>
              <a:t>Modifiez le style du titre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fr-FR" smtClean="0"/>
              <a:t>Modifiez le style du titre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nchor="t" anchorCtr="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fr-FR" smtClean="0"/>
              <a:t>Modifiez le style du titre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7/14/2026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‹N°›</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fr-FR" smtClean="0"/>
              <a:t>Modifiez le style du titre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dirty="0"/>
              <a:t>7/14/2026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‹N°›</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490194" y="1447800"/>
            <a:ext cx="9490419" cy="3859491"/>
          </a:xfrm>
        </p:spPr>
        <p:txBody>
          <a:bodyPr/>
          <a:lstStyle/>
          <a:p>
            <a:r>
              <a:rPr lang="fr-FR" sz="2000" b="1" dirty="0" smtClean="0">
                <a:solidFill>
                  <a:schemeClr val="tx1"/>
                </a:solidFill>
              </a:rPr>
              <a:t>DiabPredict</a:t>
            </a:r>
            <a:r>
              <a:rPr lang="fr-FR" sz="2000" b="1" dirty="0">
                <a:solidFill>
                  <a:schemeClr val="tx1"/>
                </a:solidFill>
              </a:rPr>
              <a:t/>
            </a:r>
            <a:br>
              <a:rPr lang="fr-FR" sz="2000" b="1" dirty="0">
                <a:solidFill>
                  <a:schemeClr val="tx1"/>
                </a:solidFill>
              </a:rPr>
            </a:br>
            <a:r>
              <a:rPr lang="fr-FR" sz="2000" b="1" dirty="0">
                <a:solidFill>
                  <a:schemeClr val="tx1"/>
                </a:solidFill>
              </a:rPr>
              <a:t>Prédiction du Diabète par Intelligence </a:t>
            </a:r>
            <a:r>
              <a:rPr lang="fr-FR" sz="2000" b="1" dirty="0" smtClean="0">
                <a:solidFill>
                  <a:schemeClr val="tx1"/>
                </a:solidFill>
              </a:rPr>
              <a:t>Artificielle</a:t>
            </a:r>
            <a:br>
              <a:rPr lang="fr-FR" sz="2000" b="1" dirty="0" smtClean="0">
                <a:solidFill>
                  <a:schemeClr val="tx1"/>
                </a:solidFill>
              </a:rPr>
            </a:br>
            <a:r>
              <a:rPr lang="fr-FR" sz="2000" b="1" dirty="0" smtClean="0">
                <a:solidFill>
                  <a:schemeClr val="tx1"/>
                </a:solidFill>
              </a:rPr>
              <a:t>Cas des femmes</a:t>
            </a:r>
            <a:r>
              <a:rPr lang="fr-FR" sz="2000" b="1" dirty="0">
                <a:solidFill>
                  <a:schemeClr val="tx1"/>
                </a:solidFill>
              </a:rPr>
              <a:t/>
            </a:r>
            <a:br>
              <a:rPr lang="fr-FR" sz="2000" b="1" dirty="0">
                <a:solidFill>
                  <a:schemeClr val="tx1"/>
                </a:solidFill>
              </a:rPr>
            </a:br>
            <a:r>
              <a:rPr lang="fr-FR" sz="2000" b="1" dirty="0">
                <a:solidFill>
                  <a:schemeClr val="tx1"/>
                </a:solidFill>
              </a:rPr>
              <a:t>Projet de Machine Learning</a:t>
            </a:r>
            <a:br>
              <a:rPr lang="fr-FR" sz="2000" b="1" dirty="0">
                <a:solidFill>
                  <a:schemeClr val="tx1"/>
                </a:solidFill>
              </a:rPr>
            </a:br>
            <a:r>
              <a:rPr lang="fr-FR" sz="2000" b="1" dirty="0">
                <a:solidFill>
                  <a:schemeClr val="tx1"/>
                </a:solidFill>
              </a:rPr>
              <a:t>Domaine : Santé</a:t>
            </a:r>
            <a:br>
              <a:rPr lang="fr-FR" sz="2000" b="1" dirty="0">
                <a:solidFill>
                  <a:schemeClr val="tx1"/>
                </a:solidFill>
              </a:rPr>
            </a:br>
            <a:r>
              <a:rPr lang="fr-FR" sz="2000" b="1" dirty="0">
                <a:solidFill>
                  <a:schemeClr val="tx1"/>
                </a:solidFill>
              </a:rPr>
              <a:t/>
            </a:r>
            <a:br>
              <a:rPr lang="fr-FR" sz="2000" b="1" dirty="0">
                <a:solidFill>
                  <a:schemeClr val="tx1"/>
                </a:solidFill>
              </a:rPr>
            </a:br>
            <a:r>
              <a:rPr lang="fr-FR" sz="2000" b="1" dirty="0">
                <a:solidFill>
                  <a:schemeClr val="tx1"/>
                </a:solidFill>
              </a:rPr>
              <a:t>Réalisé par :</a:t>
            </a:r>
            <a:br>
              <a:rPr lang="fr-FR" sz="2000" b="1" dirty="0">
                <a:solidFill>
                  <a:schemeClr val="tx1"/>
                </a:solidFill>
              </a:rPr>
            </a:br>
            <a:r>
              <a:rPr lang="fr-FR" sz="2000" b="1" dirty="0" smtClean="0">
                <a:solidFill>
                  <a:schemeClr val="tx1"/>
                </a:solidFill>
              </a:rPr>
              <a:t>- MUSHOBOZI </a:t>
            </a:r>
            <a:r>
              <a:rPr lang="fr-FR" sz="2000" b="1" dirty="0">
                <a:solidFill>
                  <a:schemeClr val="tx1"/>
                </a:solidFill>
              </a:rPr>
              <a:t>MUNGOBIJIRA Affable</a:t>
            </a:r>
            <a:br>
              <a:rPr lang="fr-FR" sz="2000" b="1" dirty="0">
                <a:solidFill>
                  <a:schemeClr val="tx1"/>
                </a:solidFill>
              </a:rPr>
            </a:br>
            <a:r>
              <a:rPr lang="fr-FR" sz="2000" b="1" dirty="0" smtClean="0">
                <a:solidFill>
                  <a:schemeClr val="tx1"/>
                </a:solidFill>
              </a:rPr>
              <a:t>-  </a:t>
            </a:r>
            <a:r>
              <a:rPr lang="fr-FR" sz="2000" b="1" dirty="0">
                <a:solidFill>
                  <a:schemeClr val="tx1"/>
                </a:solidFill>
              </a:rPr>
              <a:t>Amani Sukuwabo Bravo</a:t>
            </a:r>
            <a:br>
              <a:rPr lang="fr-FR" sz="2000" b="1" dirty="0">
                <a:solidFill>
                  <a:schemeClr val="tx1"/>
                </a:solidFill>
              </a:rPr>
            </a:br>
            <a:r>
              <a:rPr lang="fr-FR" sz="2000" b="1" dirty="0">
                <a:solidFill>
                  <a:schemeClr val="tx1"/>
                </a:solidFill>
              </a:rPr>
              <a:t/>
            </a:r>
            <a:br>
              <a:rPr lang="fr-FR" sz="2000" b="1" dirty="0">
                <a:solidFill>
                  <a:schemeClr val="tx1"/>
                </a:solidFill>
              </a:rPr>
            </a:br>
            <a:r>
              <a:rPr lang="fr-FR" sz="2000" b="1" dirty="0">
                <a:solidFill>
                  <a:schemeClr val="tx1"/>
                </a:solidFill>
              </a:rPr>
              <a:t>Date : Juillet 2026</a:t>
            </a:r>
          </a:p>
        </p:txBody>
      </p:sp>
      <p:sp>
        <p:nvSpPr>
          <p:cNvPr id="3" name="Sous-titre 2"/>
          <p:cNvSpPr>
            <a:spLocks noGrp="1"/>
          </p:cNvSpPr>
          <p:nvPr>
            <p:ph type="subTitle" idx="1"/>
          </p:nvPr>
        </p:nvSpPr>
        <p:spPr>
          <a:xfrm>
            <a:off x="1154955" y="5307290"/>
            <a:ext cx="8825658" cy="791852"/>
          </a:xfrm>
        </p:spPr>
        <p:txBody>
          <a:bodyPr>
            <a:normAutofit/>
          </a:bodyPr>
          <a:lstStyle/>
          <a:p>
            <a:r>
              <a:rPr lang="en-US" b="1" dirty="0" smtClean="0">
                <a:solidFill>
                  <a:schemeClr val="accent3"/>
                </a:solidFill>
              </a:rPr>
              <a:t>Presentation de l’application de prediction de </a:t>
            </a:r>
            <a:r>
              <a:rPr lang="en-US" b="1" dirty="0" err="1" smtClean="0">
                <a:solidFill>
                  <a:schemeClr val="accent3"/>
                </a:solidFill>
              </a:rPr>
              <a:t>diabete</a:t>
            </a:r>
            <a:endParaRPr lang="fr-FR" b="1" dirty="0">
              <a:solidFill>
                <a:schemeClr val="accent3"/>
              </a:solidFill>
            </a:endParaRPr>
          </a:p>
        </p:txBody>
      </p:sp>
    </p:spTree>
    <p:extLst>
      <p:ext uri="{BB962C8B-B14F-4D97-AF65-F5344CB8AC3E}">
        <p14:creationId xmlns:p14="http://schemas.microsoft.com/office/powerpoint/2010/main" val="3371678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603315" y="527901"/>
            <a:ext cx="9078013" cy="4402318"/>
          </a:xfrm>
        </p:spPr>
        <p:txBody>
          <a:bodyPr/>
          <a:lstStyle/>
          <a:p>
            <a:r>
              <a:rPr lang="fr-FR" sz="1800" b="1" dirty="0">
                <a:solidFill>
                  <a:schemeClr val="tx1"/>
                </a:solidFill>
              </a:rPr>
              <a:t/>
            </a:r>
            <a:br>
              <a:rPr lang="fr-FR" sz="1800" b="1" dirty="0">
                <a:solidFill>
                  <a:schemeClr val="tx1"/>
                </a:solidFill>
              </a:rPr>
            </a:br>
            <a:r>
              <a:rPr lang="fr-FR" sz="1800" b="1" dirty="0">
                <a:solidFill>
                  <a:schemeClr val="tx1"/>
                </a:solidFill>
              </a:rPr>
              <a:t/>
            </a:r>
            <a:br>
              <a:rPr lang="fr-FR" sz="1800" b="1" dirty="0">
                <a:solidFill>
                  <a:schemeClr val="tx1"/>
                </a:solidFill>
              </a:rPr>
            </a:br>
            <a:r>
              <a:rPr lang="fr-FR" sz="1800" b="1" dirty="0">
                <a:solidFill>
                  <a:schemeClr val="tx1"/>
                </a:solidFill>
              </a:rPr>
              <a:t>1. Introduction et Problématique</a:t>
            </a:r>
            <a:br>
              <a:rPr lang="fr-FR" sz="1800" b="1" dirty="0">
                <a:solidFill>
                  <a:schemeClr val="tx1"/>
                </a:solidFill>
              </a:rPr>
            </a:br>
            <a:r>
              <a:rPr lang="fr-FR" sz="1800" b="1" dirty="0">
                <a:solidFill>
                  <a:schemeClr val="tx1"/>
                </a:solidFill>
              </a:rPr>
              <a:t>2. Objectifs du projet</a:t>
            </a:r>
            <a:br>
              <a:rPr lang="fr-FR" sz="1800" b="1" dirty="0">
                <a:solidFill>
                  <a:schemeClr val="tx1"/>
                </a:solidFill>
              </a:rPr>
            </a:br>
            <a:r>
              <a:rPr lang="fr-FR" sz="1800" b="1" dirty="0">
                <a:solidFill>
                  <a:schemeClr val="tx1"/>
                </a:solidFill>
              </a:rPr>
              <a:t>3. Le Dataset (Pima Indians Diabetes)</a:t>
            </a:r>
            <a:br>
              <a:rPr lang="fr-FR" sz="1800" b="1" dirty="0">
                <a:solidFill>
                  <a:schemeClr val="tx1"/>
                </a:solidFill>
              </a:rPr>
            </a:br>
            <a:r>
              <a:rPr lang="fr-FR" sz="1800" b="1" dirty="0">
                <a:solidFill>
                  <a:schemeClr val="tx1"/>
                </a:solidFill>
              </a:rPr>
              <a:t>4. Analyse Exploratoire des Données</a:t>
            </a:r>
            <a:br>
              <a:rPr lang="fr-FR" sz="1800" b="1" dirty="0">
                <a:solidFill>
                  <a:schemeClr val="tx1"/>
                </a:solidFill>
              </a:rPr>
            </a:br>
            <a:r>
              <a:rPr lang="fr-FR" sz="1800" b="1" dirty="0">
                <a:solidFill>
                  <a:schemeClr val="tx1"/>
                </a:solidFill>
              </a:rPr>
              <a:t>5. Préparation des Données</a:t>
            </a:r>
            <a:br>
              <a:rPr lang="fr-FR" sz="1800" b="1" dirty="0">
                <a:solidFill>
                  <a:schemeClr val="tx1"/>
                </a:solidFill>
              </a:rPr>
            </a:br>
            <a:r>
              <a:rPr lang="fr-FR" sz="1800" b="1" dirty="0">
                <a:solidFill>
                  <a:schemeClr val="tx1"/>
                </a:solidFill>
              </a:rPr>
              <a:t>6. Modèles de Machine Learning utilisés</a:t>
            </a:r>
            <a:br>
              <a:rPr lang="fr-FR" sz="1800" b="1" dirty="0">
                <a:solidFill>
                  <a:schemeClr val="tx1"/>
                </a:solidFill>
              </a:rPr>
            </a:br>
            <a:r>
              <a:rPr lang="fr-FR" sz="1800" b="1" dirty="0">
                <a:solidFill>
                  <a:schemeClr val="tx1"/>
                </a:solidFill>
              </a:rPr>
              <a:t>7. Évaluation et Comparaison</a:t>
            </a:r>
            <a:br>
              <a:rPr lang="fr-FR" sz="1800" b="1" dirty="0">
                <a:solidFill>
                  <a:schemeClr val="tx1"/>
                </a:solidFill>
              </a:rPr>
            </a:br>
            <a:r>
              <a:rPr lang="fr-FR" sz="1800" b="1" dirty="0">
                <a:solidFill>
                  <a:schemeClr val="tx1"/>
                </a:solidFill>
              </a:rPr>
              <a:t>8. Déploiement de l'Application</a:t>
            </a:r>
            <a:br>
              <a:rPr lang="fr-FR" sz="1800" b="1" dirty="0">
                <a:solidFill>
                  <a:schemeClr val="tx1"/>
                </a:solidFill>
              </a:rPr>
            </a:br>
            <a:r>
              <a:rPr lang="fr-FR" sz="1800" b="1" dirty="0">
                <a:solidFill>
                  <a:schemeClr val="tx1"/>
                </a:solidFill>
              </a:rPr>
              <a:t>9. Architecture de l'Application</a:t>
            </a:r>
            <a:br>
              <a:rPr lang="fr-FR" sz="1800" b="1" dirty="0">
                <a:solidFill>
                  <a:schemeClr val="tx1"/>
                </a:solidFill>
              </a:rPr>
            </a:br>
            <a:r>
              <a:rPr lang="fr-FR" sz="1800" b="1" dirty="0">
                <a:solidFill>
                  <a:schemeClr val="tx1"/>
                </a:solidFill>
              </a:rPr>
              <a:t>10. Fonctionnalités</a:t>
            </a:r>
            <a:br>
              <a:rPr lang="fr-FR" sz="1800" b="1" dirty="0">
                <a:solidFill>
                  <a:schemeClr val="tx1"/>
                </a:solidFill>
              </a:rPr>
            </a:br>
            <a:r>
              <a:rPr lang="fr-FR" sz="1800" b="1" dirty="0">
                <a:solidFill>
                  <a:schemeClr val="tx1"/>
                </a:solidFill>
              </a:rPr>
              <a:t>11. Démonstration</a:t>
            </a:r>
            <a:br>
              <a:rPr lang="fr-FR" sz="1800" b="1" dirty="0">
                <a:solidFill>
                  <a:schemeClr val="tx1"/>
                </a:solidFill>
              </a:rPr>
            </a:br>
            <a:r>
              <a:rPr lang="fr-FR" sz="1800" b="1" dirty="0">
                <a:solidFill>
                  <a:schemeClr val="tx1"/>
                </a:solidFill>
              </a:rPr>
              <a:t>12. Conclusion et </a:t>
            </a:r>
            <a:r>
              <a:rPr lang="fr-FR" sz="1800" b="1" dirty="0" smtClean="0">
                <a:solidFill>
                  <a:schemeClr val="tx1"/>
                </a:solidFill>
              </a:rPr>
              <a:t>Perspectives</a:t>
            </a:r>
            <a:br>
              <a:rPr lang="fr-FR" sz="1800" b="1" dirty="0" smtClean="0">
                <a:solidFill>
                  <a:schemeClr val="tx1"/>
                </a:solidFill>
              </a:rPr>
            </a:br>
            <a:endParaRPr lang="fr-FR" sz="1800" b="1" dirty="0">
              <a:solidFill>
                <a:schemeClr val="tx1"/>
              </a:solidFill>
            </a:endParaRPr>
          </a:p>
        </p:txBody>
      </p:sp>
      <p:sp>
        <p:nvSpPr>
          <p:cNvPr id="3" name="Sous-titre 2"/>
          <p:cNvSpPr>
            <a:spLocks noGrp="1"/>
          </p:cNvSpPr>
          <p:nvPr>
            <p:ph type="subTitle" idx="1"/>
          </p:nvPr>
        </p:nvSpPr>
        <p:spPr>
          <a:xfrm>
            <a:off x="471340" y="5062194"/>
            <a:ext cx="9509273" cy="840556"/>
          </a:xfrm>
        </p:spPr>
        <p:txBody>
          <a:bodyPr>
            <a:normAutofit/>
          </a:bodyPr>
          <a:lstStyle/>
          <a:p>
            <a:r>
              <a:rPr lang="fr-FR" sz="2800" b="1" dirty="0" smtClean="0">
                <a:solidFill>
                  <a:schemeClr val="tx1"/>
                </a:solidFill>
              </a:rPr>
              <a:t>Plan </a:t>
            </a:r>
            <a:r>
              <a:rPr lang="fr-FR" sz="2800" b="1" dirty="0">
                <a:solidFill>
                  <a:schemeClr val="tx1"/>
                </a:solidFill>
              </a:rPr>
              <a:t>de la présentation</a:t>
            </a:r>
            <a:endParaRPr lang="fr-FR" sz="2800" dirty="0"/>
          </a:p>
        </p:txBody>
      </p:sp>
    </p:spTree>
    <p:extLst>
      <p:ext uri="{BB962C8B-B14F-4D97-AF65-F5344CB8AC3E}">
        <p14:creationId xmlns:p14="http://schemas.microsoft.com/office/powerpoint/2010/main" val="26356957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52718"/>
            <a:ext cx="8262219" cy="1112131"/>
          </a:xfrm>
        </p:spPr>
        <p:txBody>
          <a:bodyPr/>
          <a:lstStyle/>
          <a:p>
            <a:r>
              <a:rPr lang="fr-FR" dirty="0" smtClean="0"/>
              <a:t>          </a:t>
            </a:r>
            <a:r>
              <a:rPr lang="fr-FR" sz="6000" b="1" dirty="0" smtClean="0"/>
              <a:t>Introduction</a:t>
            </a:r>
            <a:endParaRPr lang="fr-FR" sz="6000" b="1" dirty="0"/>
          </a:p>
        </p:txBody>
      </p:sp>
      <p:sp>
        <p:nvSpPr>
          <p:cNvPr id="3" name="Espace réservé du contenu 2"/>
          <p:cNvSpPr>
            <a:spLocks noGrp="1"/>
          </p:cNvSpPr>
          <p:nvPr>
            <p:ph idx="1"/>
          </p:nvPr>
        </p:nvSpPr>
        <p:spPr>
          <a:xfrm>
            <a:off x="646112" y="1395168"/>
            <a:ext cx="9403742" cy="5382704"/>
          </a:xfrm>
        </p:spPr>
        <p:txBody>
          <a:bodyPr>
            <a:noAutofit/>
          </a:bodyPr>
          <a:lstStyle/>
          <a:p>
            <a:endParaRPr lang="fr-FR" sz="1400" dirty="0"/>
          </a:p>
          <a:p>
            <a:pPr marL="0" indent="0">
              <a:buNone/>
            </a:pPr>
            <a:r>
              <a:rPr lang="fr-FR" sz="1400" dirty="0" smtClean="0"/>
              <a:t>          </a:t>
            </a:r>
            <a:r>
              <a:rPr lang="fr-FR" sz="1600" dirty="0" smtClean="0"/>
              <a:t>Le </a:t>
            </a:r>
            <a:r>
              <a:rPr lang="fr-FR" sz="1600" dirty="0"/>
              <a:t>diabète est une maladie chronique qui touche des millions de personnes dans le monde.</a:t>
            </a:r>
          </a:p>
          <a:p>
            <a:endParaRPr lang="fr-FR" sz="1600" dirty="0"/>
          </a:p>
          <a:p>
            <a:pPr marL="0" indent="0">
              <a:buNone/>
            </a:pPr>
            <a:r>
              <a:rPr lang="fr-FR" b="1" dirty="0" smtClean="0">
                <a:latin typeface="Algerian" panose="04020705040A02060702" pitchFamily="82" charset="0"/>
              </a:rPr>
              <a:t>                               </a:t>
            </a:r>
            <a:r>
              <a:rPr lang="fr-FR" b="1" dirty="0">
                <a:latin typeface="Algerian" panose="04020705040A02060702" pitchFamily="82" charset="0"/>
              </a:rPr>
              <a:t>Problème :</a:t>
            </a:r>
          </a:p>
          <a:p>
            <a:pPr marL="0" indent="0">
              <a:buNone/>
            </a:pPr>
            <a:r>
              <a:rPr lang="fr-FR" sz="1600" dirty="0" smtClean="0"/>
              <a:t>           - </a:t>
            </a:r>
            <a:r>
              <a:rPr lang="fr-FR" sz="1600" dirty="0"/>
              <a:t>Détection tardive du diabète</a:t>
            </a:r>
          </a:p>
          <a:p>
            <a:pPr marL="0" indent="0">
              <a:buNone/>
            </a:pPr>
            <a:r>
              <a:rPr lang="fr-FR" sz="1600" dirty="0" smtClean="0"/>
              <a:t>            - </a:t>
            </a:r>
            <a:r>
              <a:rPr lang="fr-FR" sz="1600" dirty="0"/>
              <a:t>Manque d'outils de dépistage précoce</a:t>
            </a:r>
          </a:p>
          <a:p>
            <a:pPr marL="0" indent="0">
              <a:buNone/>
            </a:pPr>
            <a:r>
              <a:rPr lang="fr-FR" sz="1600" dirty="0" smtClean="0"/>
              <a:t>            - </a:t>
            </a:r>
            <a:r>
              <a:rPr lang="fr-FR" sz="1600" dirty="0"/>
              <a:t>Coût élevé des tests médicaux</a:t>
            </a:r>
          </a:p>
          <a:p>
            <a:endParaRPr lang="fr-FR" sz="1600" dirty="0"/>
          </a:p>
          <a:p>
            <a:pPr marL="0" indent="0">
              <a:buNone/>
            </a:pPr>
            <a:r>
              <a:rPr lang="fr-FR" sz="1600" dirty="0" smtClean="0"/>
              <a:t>                                      </a:t>
            </a:r>
            <a:r>
              <a:rPr lang="fr-FR" b="1" dirty="0" smtClean="0">
                <a:latin typeface="Algerian" panose="04020705040A02060702" pitchFamily="82" charset="0"/>
              </a:rPr>
              <a:t>Solution </a:t>
            </a:r>
            <a:r>
              <a:rPr lang="fr-FR" b="1" dirty="0">
                <a:latin typeface="Algerian" panose="04020705040A02060702" pitchFamily="82" charset="0"/>
              </a:rPr>
              <a:t>:</a:t>
            </a:r>
          </a:p>
          <a:p>
            <a:pPr marL="0" indent="0">
              <a:buNone/>
            </a:pPr>
            <a:r>
              <a:rPr lang="fr-FR" sz="1600" dirty="0" smtClean="0"/>
              <a:t>         - </a:t>
            </a:r>
            <a:r>
              <a:rPr lang="fr-FR" sz="1600" dirty="0"/>
              <a:t>DiabPredict : application de prédiction du diabète</a:t>
            </a:r>
          </a:p>
          <a:p>
            <a:pPr marL="0" indent="0">
              <a:buNone/>
            </a:pPr>
            <a:r>
              <a:rPr lang="fr-FR" sz="1600" dirty="0" smtClean="0"/>
              <a:t>         - Utilisation </a:t>
            </a:r>
            <a:r>
              <a:rPr lang="fr-FR" sz="1600" dirty="0"/>
              <a:t>de l'Intelligence Artificielle (IA)</a:t>
            </a:r>
          </a:p>
          <a:p>
            <a:pPr marL="0" indent="0">
              <a:buNone/>
            </a:pPr>
            <a:r>
              <a:rPr lang="fr-FR" sz="1600" dirty="0" smtClean="0"/>
              <a:t>          - </a:t>
            </a:r>
            <a:r>
              <a:rPr lang="fr-FR" sz="1600" dirty="0"/>
              <a:t>Prédiction précoce à partir de paramètres médicaux simples</a:t>
            </a:r>
          </a:p>
          <a:p>
            <a:pPr marL="0" indent="0">
              <a:buNone/>
            </a:pPr>
            <a:r>
              <a:rPr lang="fr-FR" sz="1600" dirty="0" smtClean="0"/>
              <a:t>           - </a:t>
            </a:r>
            <a:r>
              <a:rPr lang="fr-FR" sz="1600" dirty="0"/>
              <a:t>Interface web accessible et intuitive</a:t>
            </a:r>
          </a:p>
        </p:txBody>
      </p:sp>
    </p:spTree>
    <p:extLst>
      <p:ext uri="{BB962C8B-B14F-4D97-AF65-F5344CB8AC3E}">
        <p14:creationId xmlns:p14="http://schemas.microsoft.com/office/powerpoint/2010/main" val="10977761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52718"/>
            <a:ext cx="9404723" cy="848181"/>
          </a:xfrm>
        </p:spPr>
        <p:txBody>
          <a:bodyPr/>
          <a:lstStyle/>
          <a:p>
            <a:r>
              <a:rPr lang="fr-FR" dirty="0" smtClean="0"/>
              <a:t>         </a:t>
            </a:r>
            <a:r>
              <a:rPr lang="fr-FR" sz="4400" b="1" dirty="0"/>
              <a:t>Objectifs du projet</a:t>
            </a:r>
            <a:endParaRPr lang="fr-FR" b="1" dirty="0"/>
          </a:p>
        </p:txBody>
      </p:sp>
      <p:sp>
        <p:nvSpPr>
          <p:cNvPr id="3" name="Espace réservé du contenu 2"/>
          <p:cNvSpPr>
            <a:spLocks noGrp="1"/>
          </p:cNvSpPr>
          <p:nvPr>
            <p:ph idx="1"/>
          </p:nvPr>
        </p:nvSpPr>
        <p:spPr>
          <a:xfrm>
            <a:off x="646112" y="1300900"/>
            <a:ext cx="9403742" cy="5410986"/>
          </a:xfrm>
        </p:spPr>
        <p:txBody>
          <a:bodyPr>
            <a:normAutofit fontScale="85000" lnSpcReduction="20000"/>
          </a:bodyPr>
          <a:lstStyle/>
          <a:p>
            <a:endParaRPr lang="fr-FR" dirty="0"/>
          </a:p>
          <a:p>
            <a:pPr marL="0" indent="0">
              <a:buNone/>
            </a:pPr>
            <a:r>
              <a:rPr lang="fr-FR" dirty="0" smtClean="0"/>
              <a:t>                     </a:t>
            </a:r>
            <a:r>
              <a:rPr lang="fr-FR" sz="1900" dirty="0" smtClean="0"/>
              <a:t>1</a:t>
            </a:r>
            <a:r>
              <a:rPr lang="fr-FR" sz="1900" dirty="0"/>
              <a:t>. </a:t>
            </a:r>
            <a:r>
              <a:rPr lang="fr-FR" sz="2400" b="1" dirty="0"/>
              <a:t>Développer un modèle de Machine Learning performant</a:t>
            </a:r>
          </a:p>
          <a:p>
            <a:pPr marL="0" indent="0">
              <a:buNone/>
            </a:pPr>
            <a:r>
              <a:rPr lang="fr-FR" sz="1900" dirty="0"/>
              <a:t> </a:t>
            </a:r>
            <a:r>
              <a:rPr lang="fr-FR" sz="1900" dirty="0" smtClean="0"/>
              <a:t>                        </a:t>
            </a:r>
            <a:r>
              <a:rPr lang="fr-FR" sz="1900" dirty="0"/>
              <a:t>- Prédire le risque de diabète avec une précision &gt; 85%</a:t>
            </a:r>
          </a:p>
          <a:p>
            <a:endParaRPr lang="fr-FR" sz="1900" dirty="0"/>
          </a:p>
          <a:p>
            <a:pPr marL="0" indent="0">
              <a:buNone/>
            </a:pPr>
            <a:r>
              <a:rPr lang="fr-FR" sz="1900" dirty="0" smtClean="0"/>
              <a:t>                       2</a:t>
            </a:r>
            <a:r>
              <a:rPr lang="fr-FR" sz="1900" dirty="0"/>
              <a:t>. </a:t>
            </a:r>
            <a:r>
              <a:rPr lang="fr-FR" sz="2400" b="1" dirty="0"/>
              <a:t>Créer une application web complète</a:t>
            </a:r>
          </a:p>
          <a:p>
            <a:pPr marL="0" indent="0">
              <a:buNone/>
            </a:pPr>
            <a:r>
              <a:rPr lang="fr-FR" sz="1900" dirty="0" smtClean="0"/>
              <a:t>                             </a:t>
            </a:r>
            <a:r>
              <a:rPr lang="fr-FR" sz="1900" dirty="0"/>
              <a:t>- Interface utilisateur intuitive</a:t>
            </a:r>
          </a:p>
          <a:p>
            <a:pPr marL="0" indent="0">
              <a:buNone/>
            </a:pPr>
            <a:r>
              <a:rPr lang="fr-FR" sz="1900" dirty="0"/>
              <a:t> </a:t>
            </a:r>
            <a:r>
              <a:rPr lang="fr-FR" sz="1900" dirty="0" smtClean="0"/>
              <a:t>                            </a:t>
            </a:r>
            <a:r>
              <a:rPr lang="fr-FR" sz="1900" dirty="0"/>
              <a:t>- Sauvegarde des prédictions en base de données</a:t>
            </a:r>
          </a:p>
          <a:p>
            <a:endParaRPr lang="fr-FR" sz="1900" dirty="0"/>
          </a:p>
          <a:p>
            <a:pPr marL="0" indent="0">
              <a:buNone/>
            </a:pPr>
            <a:r>
              <a:rPr lang="fr-FR" sz="2100" dirty="0" smtClean="0"/>
              <a:t>                     3</a:t>
            </a:r>
            <a:r>
              <a:rPr lang="fr-FR" sz="2100" dirty="0"/>
              <a:t>. </a:t>
            </a:r>
            <a:r>
              <a:rPr lang="fr-FR" sz="2400" b="1" dirty="0"/>
              <a:t>Comparer 3 modèles de classification</a:t>
            </a:r>
          </a:p>
          <a:p>
            <a:pPr marL="0" indent="0">
              <a:buNone/>
            </a:pPr>
            <a:r>
              <a:rPr lang="fr-FR" sz="1900" dirty="0"/>
              <a:t> </a:t>
            </a:r>
            <a:r>
              <a:rPr lang="fr-FR" sz="1900" dirty="0" smtClean="0"/>
              <a:t>                          </a:t>
            </a:r>
            <a:r>
              <a:rPr lang="fr-FR" sz="1900" dirty="0"/>
              <a:t>- KNN (K-</a:t>
            </a:r>
            <a:r>
              <a:rPr lang="fr-FR" sz="1900" dirty="0" err="1"/>
              <a:t>Nearest</a:t>
            </a:r>
            <a:r>
              <a:rPr lang="fr-FR" sz="1900" dirty="0"/>
              <a:t> Neighbors)</a:t>
            </a:r>
          </a:p>
          <a:p>
            <a:pPr marL="0" indent="0">
              <a:buNone/>
            </a:pPr>
            <a:r>
              <a:rPr lang="fr-FR" sz="1900" dirty="0" smtClean="0"/>
              <a:t>                          </a:t>
            </a:r>
            <a:r>
              <a:rPr lang="fr-FR" sz="1900" dirty="0"/>
              <a:t>- XGBoost (</a:t>
            </a:r>
            <a:r>
              <a:rPr lang="fr-FR" sz="1900" dirty="0" err="1"/>
              <a:t>Extreme</a:t>
            </a:r>
            <a:r>
              <a:rPr lang="fr-FR" sz="1900" dirty="0"/>
              <a:t> Gradient </a:t>
            </a:r>
            <a:r>
              <a:rPr lang="fr-FR" sz="1900" dirty="0" err="1"/>
              <a:t>Boosting</a:t>
            </a:r>
            <a:r>
              <a:rPr lang="fr-FR" sz="1900" dirty="0"/>
              <a:t>)</a:t>
            </a:r>
          </a:p>
          <a:p>
            <a:pPr marL="0" indent="0">
              <a:buNone/>
            </a:pPr>
            <a:r>
              <a:rPr lang="fr-FR" sz="1900" dirty="0" smtClean="0"/>
              <a:t>                            </a:t>
            </a:r>
            <a:r>
              <a:rPr lang="fr-FR" sz="1900" dirty="0"/>
              <a:t>- LightGBM (Light Gradient </a:t>
            </a:r>
            <a:r>
              <a:rPr lang="fr-FR" sz="1900" dirty="0" err="1"/>
              <a:t>Boosting</a:t>
            </a:r>
            <a:r>
              <a:rPr lang="fr-FR" sz="1900" dirty="0"/>
              <a:t>)</a:t>
            </a:r>
          </a:p>
          <a:p>
            <a:endParaRPr lang="fr-FR" sz="1900" dirty="0"/>
          </a:p>
          <a:p>
            <a:pPr marL="0" indent="0">
              <a:buNone/>
            </a:pPr>
            <a:r>
              <a:rPr lang="fr-FR" sz="1900" dirty="0" smtClean="0"/>
              <a:t>                      4</a:t>
            </a:r>
            <a:r>
              <a:rPr lang="fr-FR" sz="2200" b="1" dirty="0"/>
              <a:t>. </a:t>
            </a:r>
            <a:r>
              <a:rPr lang="fr-FR" sz="2800" b="1" dirty="0"/>
              <a:t>Déployer l'application en ligne</a:t>
            </a:r>
          </a:p>
          <a:p>
            <a:pPr marL="0" indent="0">
              <a:buNone/>
            </a:pPr>
            <a:r>
              <a:rPr lang="fr-FR" sz="1900" dirty="0" smtClean="0"/>
              <a:t>                        </a:t>
            </a:r>
            <a:r>
              <a:rPr lang="fr-FR" sz="1900" dirty="0"/>
              <a:t>- Hébergement sur </a:t>
            </a:r>
            <a:r>
              <a:rPr lang="fr-FR" sz="1900" dirty="0" err="1"/>
              <a:t>Render</a:t>
            </a:r>
            <a:r>
              <a:rPr lang="fr-FR" sz="1900" dirty="0"/>
              <a:t>/</a:t>
            </a:r>
            <a:r>
              <a:rPr lang="fr-FR" sz="1900" dirty="0" err="1"/>
              <a:t>PythonAnywhere</a:t>
            </a:r>
            <a:endParaRPr lang="fr-FR" sz="1900" dirty="0"/>
          </a:p>
          <a:p>
            <a:pPr marL="0" indent="0">
              <a:buNone/>
            </a:pPr>
            <a:r>
              <a:rPr lang="fr-FR" sz="1900" dirty="0" smtClean="0"/>
              <a:t>                        </a:t>
            </a:r>
            <a:r>
              <a:rPr lang="fr-FR" sz="1900" dirty="0"/>
              <a:t>- Accessible à tous</a:t>
            </a:r>
          </a:p>
        </p:txBody>
      </p:sp>
    </p:spTree>
    <p:extLst>
      <p:ext uri="{BB962C8B-B14F-4D97-AF65-F5344CB8AC3E}">
        <p14:creationId xmlns:p14="http://schemas.microsoft.com/office/powerpoint/2010/main" val="2977686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160256"/>
            <a:ext cx="9355728" cy="933253"/>
          </a:xfrm>
        </p:spPr>
        <p:txBody>
          <a:bodyPr/>
          <a:lstStyle/>
          <a:p>
            <a:r>
              <a:rPr lang="fr-FR" sz="4000" b="1" dirty="0" smtClean="0"/>
              <a:t>Le </a:t>
            </a:r>
            <a:r>
              <a:rPr lang="fr-FR" sz="4000" b="1" dirty="0"/>
              <a:t>Dataset : Pima Indians </a:t>
            </a:r>
            <a:r>
              <a:rPr lang="fr-FR" sz="4000" b="1" dirty="0" smtClean="0"/>
              <a:t>Diabetes</a:t>
            </a:r>
            <a:endParaRPr lang="fr-FR" sz="4000" b="1" dirty="0"/>
          </a:p>
        </p:txBody>
      </p:sp>
      <p:sp>
        <p:nvSpPr>
          <p:cNvPr id="3" name="Espace réservé du contenu 2"/>
          <p:cNvSpPr>
            <a:spLocks noGrp="1"/>
          </p:cNvSpPr>
          <p:nvPr>
            <p:ph idx="1"/>
          </p:nvPr>
        </p:nvSpPr>
        <p:spPr>
          <a:xfrm>
            <a:off x="395926" y="942681"/>
            <a:ext cx="10407192" cy="5788058"/>
          </a:xfrm>
        </p:spPr>
        <p:txBody>
          <a:bodyPr>
            <a:normAutofit fontScale="47500" lnSpcReduction="20000"/>
          </a:bodyPr>
          <a:lstStyle/>
          <a:p>
            <a:pPr marL="0" indent="0">
              <a:buNone/>
            </a:pPr>
            <a:r>
              <a:rPr lang="fr-FR" sz="2300" b="1" dirty="0" smtClean="0"/>
              <a:t>                                                                      </a:t>
            </a:r>
            <a:r>
              <a:rPr lang="fr-FR" sz="3400" b="1" dirty="0" smtClean="0"/>
              <a:t>        ( </a:t>
            </a:r>
            <a:r>
              <a:rPr lang="fr-FR" sz="3800" b="1" dirty="0" smtClean="0"/>
              <a:t>Source </a:t>
            </a:r>
            <a:r>
              <a:rPr lang="fr-FR" sz="3800" b="1" dirty="0"/>
              <a:t>: Kaggle)</a:t>
            </a:r>
          </a:p>
          <a:p>
            <a:pPr marL="0" indent="0">
              <a:buNone/>
            </a:pPr>
            <a:r>
              <a:rPr lang="fr-FR" sz="2500" dirty="0" smtClean="0"/>
              <a:t>                                                                - Population </a:t>
            </a:r>
            <a:r>
              <a:rPr lang="fr-FR" sz="2500" dirty="0"/>
              <a:t>: Femmes amérindiennes Pima</a:t>
            </a:r>
          </a:p>
          <a:p>
            <a:pPr marL="0" indent="0">
              <a:buNone/>
            </a:pPr>
            <a:r>
              <a:rPr lang="fr-FR" sz="2500" dirty="0" smtClean="0"/>
              <a:t>                                                                 -Taille </a:t>
            </a:r>
            <a:r>
              <a:rPr lang="fr-FR" sz="2500" dirty="0"/>
              <a:t>: 768 observations</a:t>
            </a:r>
          </a:p>
          <a:p>
            <a:pPr marL="0" indent="0">
              <a:buNone/>
            </a:pPr>
            <a:r>
              <a:rPr lang="fr-FR" sz="2500" dirty="0" smtClean="0"/>
              <a:t>                                                                  -Features </a:t>
            </a:r>
            <a:r>
              <a:rPr lang="fr-FR" sz="2500" dirty="0"/>
              <a:t>: 8 variables médicales</a:t>
            </a:r>
          </a:p>
          <a:p>
            <a:pPr marL="0" indent="0">
              <a:buNone/>
            </a:pPr>
            <a:r>
              <a:rPr lang="fr-FR" sz="2500" dirty="0" smtClean="0"/>
              <a:t>                                                                 -Target </a:t>
            </a:r>
            <a:r>
              <a:rPr lang="fr-FR" sz="2500" dirty="0"/>
              <a:t>: 2 classes (Diabétique / Non-diabétique)</a:t>
            </a:r>
          </a:p>
          <a:p>
            <a:endParaRPr lang="fr-FR" sz="2500" dirty="0"/>
          </a:p>
          <a:p>
            <a:pPr marL="0" indent="0">
              <a:buNone/>
            </a:pPr>
            <a:r>
              <a:rPr lang="fr-FR" sz="2500" dirty="0" smtClean="0"/>
              <a:t>                                                           </a:t>
            </a:r>
            <a:r>
              <a:rPr lang="fr-FR" sz="3600" dirty="0">
                <a:latin typeface="Arial Black" panose="020B0A04020102020204" pitchFamily="34" charset="0"/>
              </a:rPr>
              <a:t>Variables médicales :</a:t>
            </a:r>
          </a:p>
          <a:p>
            <a:pPr marL="0" indent="0">
              <a:buNone/>
            </a:pPr>
            <a:r>
              <a:rPr lang="fr-FR" sz="2500" dirty="0" smtClean="0"/>
              <a:t>                                                                 - </a:t>
            </a:r>
            <a:r>
              <a:rPr lang="fr-FR" sz="2500" dirty="0"/>
              <a:t>Pregnancies : Nombre de grossesses</a:t>
            </a:r>
          </a:p>
          <a:p>
            <a:pPr marL="0" indent="0">
              <a:buNone/>
            </a:pPr>
            <a:r>
              <a:rPr lang="fr-FR" sz="2500" dirty="0" smtClean="0"/>
              <a:t>                                                                 - </a:t>
            </a:r>
            <a:r>
              <a:rPr lang="fr-FR" sz="2500" dirty="0"/>
              <a:t>Glucose : Taux de glucose</a:t>
            </a:r>
          </a:p>
          <a:p>
            <a:pPr marL="0" indent="0">
              <a:buNone/>
            </a:pPr>
            <a:r>
              <a:rPr lang="fr-FR" sz="2500" dirty="0" smtClean="0"/>
              <a:t>                                                                  - </a:t>
            </a:r>
            <a:r>
              <a:rPr lang="fr-FR" sz="2500" dirty="0"/>
              <a:t>BloodPressure : Pression artérielle</a:t>
            </a:r>
          </a:p>
          <a:p>
            <a:pPr marL="0" indent="0">
              <a:buNone/>
            </a:pPr>
            <a:r>
              <a:rPr lang="fr-FR" sz="2500" dirty="0" smtClean="0"/>
              <a:t>                                                                 - </a:t>
            </a:r>
            <a:r>
              <a:rPr lang="fr-FR" sz="2500" dirty="0"/>
              <a:t>SkinThickness : Épaisseur de la peau</a:t>
            </a:r>
          </a:p>
          <a:p>
            <a:pPr marL="0" indent="0">
              <a:buNone/>
            </a:pPr>
            <a:r>
              <a:rPr lang="fr-FR" sz="2500" dirty="0" smtClean="0"/>
              <a:t>                                                                 - </a:t>
            </a:r>
            <a:r>
              <a:rPr lang="fr-FR" sz="2500" dirty="0"/>
              <a:t>Insulin : Taux d'insuline</a:t>
            </a:r>
          </a:p>
          <a:p>
            <a:pPr marL="0" indent="0">
              <a:buNone/>
            </a:pPr>
            <a:r>
              <a:rPr lang="fr-FR" sz="2500" dirty="0" smtClean="0"/>
              <a:t>                                                                 - </a:t>
            </a:r>
            <a:r>
              <a:rPr lang="fr-FR" sz="2500" dirty="0"/>
              <a:t>BMI : Indice de Masse Corporelle</a:t>
            </a:r>
          </a:p>
          <a:p>
            <a:pPr marL="0" indent="0">
              <a:buNone/>
            </a:pPr>
            <a:r>
              <a:rPr lang="fr-FR" sz="2500" dirty="0" smtClean="0"/>
              <a:t>                                                                   - </a:t>
            </a:r>
            <a:r>
              <a:rPr lang="fr-FR" sz="2500" dirty="0"/>
              <a:t>DiabetesPedigreeFunction : Fonction généalogique</a:t>
            </a:r>
          </a:p>
          <a:p>
            <a:pPr marL="0" indent="0">
              <a:buNone/>
            </a:pPr>
            <a:r>
              <a:rPr lang="fr-FR" sz="2500" dirty="0" smtClean="0"/>
              <a:t>                                                                   - </a:t>
            </a:r>
            <a:r>
              <a:rPr lang="fr-FR" sz="2500" dirty="0"/>
              <a:t>Age : Âge</a:t>
            </a:r>
          </a:p>
          <a:p>
            <a:endParaRPr lang="fr-FR" sz="2500" dirty="0"/>
          </a:p>
          <a:p>
            <a:pPr marL="0" indent="0">
              <a:buNone/>
            </a:pPr>
            <a:r>
              <a:rPr lang="fr-FR" sz="2500" dirty="0" smtClean="0"/>
              <a:t>                                                                </a:t>
            </a:r>
            <a:r>
              <a:rPr lang="fr-FR" sz="3300" dirty="0">
                <a:latin typeface="Arial Black" panose="020B0A04020102020204" pitchFamily="34" charset="0"/>
              </a:rPr>
              <a:t>Distribution des classes :</a:t>
            </a:r>
          </a:p>
          <a:p>
            <a:pPr marL="0" indent="0">
              <a:buNone/>
            </a:pPr>
            <a:r>
              <a:rPr lang="fr-FR" sz="2500" dirty="0" smtClean="0"/>
              <a:t>                                                                - </a:t>
            </a:r>
            <a:r>
              <a:rPr lang="fr-FR" sz="2500" dirty="0"/>
              <a:t>Non-diabétique : 500 (65%)</a:t>
            </a:r>
          </a:p>
          <a:p>
            <a:pPr marL="0" indent="0">
              <a:buNone/>
            </a:pPr>
            <a:r>
              <a:rPr lang="fr-FR" sz="2500" dirty="0" smtClean="0"/>
              <a:t>                                                                - </a:t>
            </a:r>
            <a:r>
              <a:rPr lang="fr-FR" sz="2500" dirty="0"/>
              <a:t>Diabétique : 268 (35%)</a:t>
            </a:r>
          </a:p>
        </p:txBody>
      </p:sp>
    </p:spTree>
    <p:extLst>
      <p:ext uri="{BB962C8B-B14F-4D97-AF65-F5344CB8AC3E}">
        <p14:creationId xmlns:p14="http://schemas.microsoft.com/office/powerpoint/2010/main" val="582967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15011"/>
            <a:ext cx="9695093" cy="951876"/>
          </a:xfrm>
        </p:spPr>
        <p:txBody>
          <a:bodyPr/>
          <a:lstStyle/>
          <a:p>
            <a:r>
              <a:rPr lang="fr-FR" sz="4400" b="1" dirty="0" smtClean="0"/>
              <a:t>Analyse </a:t>
            </a:r>
            <a:r>
              <a:rPr lang="fr-FR" sz="4400" b="1" dirty="0"/>
              <a:t>Exploratoire des Données</a:t>
            </a:r>
            <a:endParaRPr lang="fr-FR" sz="4400" b="1" dirty="0"/>
          </a:p>
        </p:txBody>
      </p:sp>
      <p:sp>
        <p:nvSpPr>
          <p:cNvPr id="3" name="Espace réservé du contenu 2"/>
          <p:cNvSpPr>
            <a:spLocks noGrp="1"/>
          </p:cNvSpPr>
          <p:nvPr>
            <p:ph idx="1"/>
          </p:nvPr>
        </p:nvSpPr>
        <p:spPr>
          <a:xfrm>
            <a:off x="646112" y="1093509"/>
            <a:ext cx="9403742" cy="5448693"/>
          </a:xfrm>
        </p:spPr>
        <p:txBody>
          <a:bodyPr>
            <a:noAutofit/>
          </a:bodyPr>
          <a:lstStyle/>
          <a:p>
            <a:endParaRPr lang="fr-FR" sz="2400" b="1" dirty="0"/>
          </a:p>
          <a:p>
            <a:pPr marL="0" indent="0">
              <a:buNone/>
            </a:pPr>
            <a:r>
              <a:rPr lang="fr-FR" sz="2400" b="1" dirty="0" smtClean="0"/>
              <a:t>                1</a:t>
            </a:r>
            <a:r>
              <a:rPr lang="fr-FR" sz="2400" b="1" dirty="0"/>
              <a:t>. Distribution des classes</a:t>
            </a:r>
          </a:p>
          <a:p>
            <a:pPr marL="0" indent="0">
              <a:buNone/>
            </a:pPr>
            <a:r>
              <a:rPr lang="fr-FR" sz="1800" dirty="0"/>
              <a:t>  </a:t>
            </a:r>
            <a:r>
              <a:rPr lang="fr-FR" sz="1800" dirty="0" smtClean="0"/>
              <a:t>                    </a:t>
            </a:r>
            <a:r>
              <a:rPr lang="fr-FR" sz="1800" dirty="0"/>
              <a:t>[Graphique : Barres des classes]</a:t>
            </a:r>
          </a:p>
          <a:p>
            <a:endParaRPr lang="fr-FR" sz="1800" dirty="0"/>
          </a:p>
          <a:p>
            <a:pPr marL="0" indent="0">
              <a:buNone/>
            </a:pPr>
            <a:r>
              <a:rPr lang="fr-FR" sz="1800" dirty="0" smtClean="0"/>
              <a:t>                   </a:t>
            </a:r>
            <a:r>
              <a:rPr lang="fr-FR" sz="2400" b="1" dirty="0" smtClean="0"/>
              <a:t>2</a:t>
            </a:r>
            <a:r>
              <a:rPr lang="fr-FR" sz="2400" b="1" dirty="0"/>
              <a:t>. Distribution des features</a:t>
            </a:r>
          </a:p>
          <a:p>
            <a:pPr marL="0" indent="0">
              <a:buNone/>
            </a:pPr>
            <a:r>
              <a:rPr lang="fr-FR" sz="1800" dirty="0"/>
              <a:t>  </a:t>
            </a:r>
            <a:r>
              <a:rPr lang="fr-FR" sz="1800" dirty="0" smtClean="0"/>
              <a:t>                      </a:t>
            </a:r>
            <a:r>
              <a:rPr lang="fr-FR" sz="1800" dirty="0"/>
              <a:t>[Graphique : Histogrammes de Glucose, BMI, Âge]</a:t>
            </a:r>
          </a:p>
          <a:p>
            <a:pPr marL="0" indent="0">
              <a:buNone/>
            </a:pPr>
            <a:r>
              <a:rPr lang="fr-FR" sz="1800" dirty="0" smtClean="0"/>
              <a:t>                    </a:t>
            </a:r>
            <a:r>
              <a:rPr lang="fr-FR" sz="2400" b="1" dirty="0" smtClean="0"/>
              <a:t> 3</a:t>
            </a:r>
            <a:r>
              <a:rPr lang="fr-FR" sz="2400" b="1" dirty="0"/>
              <a:t>. Matrice de corrélation</a:t>
            </a:r>
          </a:p>
          <a:p>
            <a:pPr marL="0" indent="0">
              <a:buNone/>
            </a:pPr>
            <a:r>
              <a:rPr lang="fr-FR" sz="1800" dirty="0"/>
              <a:t> </a:t>
            </a:r>
            <a:r>
              <a:rPr lang="fr-FR" sz="1800" dirty="0" smtClean="0"/>
              <a:t>                        [</a:t>
            </a:r>
            <a:r>
              <a:rPr lang="fr-FR" sz="1800" dirty="0"/>
              <a:t>Graphique : Heatmap des corrélations]</a:t>
            </a:r>
          </a:p>
          <a:p>
            <a:pPr marL="0" indent="0">
              <a:buNone/>
            </a:pPr>
            <a:r>
              <a:rPr lang="fr-FR" sz="1800" dirty="0" smtClean="0"/>
              <a:t>                     </a:t>
            </a:r>
            <a:r>
              <a:rPr lang="fr-FR" sz="2400" b="1" dirty="0" smtClean="0"/>
              <a:t>4</a:t>
            </a:r>
            <a:r>
              <a:rPr lang="fr-FR" sz="2400" b="1" dirty="0"/>
              <a:t>. Observations clés :</a:t>
            </a:r>
          </a:p>
          <a:p>
            <a:pPr marL="0" indent="0">
              <a:buNone/>
            </a:pPr>
            <a:r>
              <a:rPr lang="fr-FR" sz="1800" dirty="0"/>
              <a:t> </a:t>
            </a:r>
            <a:r>
              <a:rPr lang="fr-FR" sz="1800" dirty="0" smtClean="0"/>
              <a:t>                         </a:t>
            </a:r>
            <a:r>
              <a:rPr lang="fr-FR" sz="1800" dirty="0"/>
              <a:t>- Glucose et BMI sont les features les plus corrélées avec le diabète</a:t>
            </a:r>
          </a:p>
          <a:p>
            <a:pPr marL="0" indent="0">
              <a:buNone/>
            </a:pPr>
            <a:r>
              <a:rPr lang="fr-FR" sz="1800" dirty="0"/>
              <a:t>  </a:t>
            </a:r>
            <a:r>
              <a:rPr lang="fr-FR" sz="1800" dirty="0" smtClean="0"/>
              <a:t>                        </a:t>
            </a:r>
            <a:r>
              <a:rPr lang="fr-FR" sz="1800" dirty="0"/>
              <a:t>- Âge et nombre de grossesses augmentent le risque</a:t>
            </a:r>
          </a:p>
          <a:p>
            <a:pPr marL="0" indent="0">
              <a:buNone/>
            </a:pPr>
            <a:r>
              <a:rPr lang="fr-FR" sz="1800" dirty="0" smtClean="0"/>
              <a:t>                          </a:t>
            </a:r>
            <a:r>
              <a:rPr lang="fr-FR" sz="1800" dirty="0"/>
              <a:t>- IMC élevé est un facteur de risque important</a:t>
            </a:r>
          </a:p>
        </p:txBody>
      </p:sp>
    </p:spTree>
    <p:extLst>
      <p:ext uri="{BB962C8B-B14F-4D97-AF65-F5344CB8AC3E}">
        <p14:creationId xmlns:p14="http://schemas.microsoft.com/office/powerpoint/2010/main" val="4004784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15011"/>
            <a:ext cx="9404723" cy="1093278"/>
          </a:xfrm>
        </p:spPr>
        <p:txBody>
          <a:bodyPr/>
          <a:lstStyle/>
          <a:p>
            <a:r>
              <a:rPr lang="fr-FR" dirty="0" smtClean="0"/>
              <a:t>       </a:t>
            </a:r>
            <a:r>
              <a:rPr lang="fr-FR" sz="4800" b="1" dirty="0" smtClean="0"/>
              <a:t>Préparation </a:t>
            </a:r>
            <a:r>
              <a:rPr lang="fr-FR" sz="4800" b="1" dirty="0"/>
              <a:t>des Données</a:t>
            </a:r>
            <a:endParaRPr lang="fr-FR" b="1" dirty="0"/>
          </a:p>
        </p:txBody>
      </p:sp>
      <p:sp>
        <p:nvSpPr>
          <p:cNvPr id="3" name="Espace réservé du contenu 2"/>
          <p:cNvSpPr>
            <a:spLocks noGrp="1"/>
          </p:cNvSpPr>
          <p:nvPr>
            <p:ph idx="1"/>
          </p:nvPr>
        </p:nvSpPr>
        <p:spPr>
          <a:xfrm>
            <a:off x="1074656" y="1423447"/>
            <a:ext cx="9257121" cy="5279011"/>
          </a:xfrm>
        </p:spPr>
        <p:txBody>
          <a:bodyPr>
            <a:normAutofit fontScale="47500" lnSpcReduction="20000"/>
          </a:bodyPr>
          <a:lstStyle/>
          <a:p>
            <a:endParaRPr lang="fr-FR" dirty="0"/>
          </a:p>
          <a:p>
            <a:pPr marL="0" indent="0">
              <a:buNone/>
            </a:pPr>
            <a:r>
              <a:rPr lang="fr-FR" sz="2500" b="1" dirty="0" smtClean="0"/>
              <a:t>                                                                          </a:t>
            </a:r>
            <a:r>
              <a:rPr lang="fr-FR" sz="3300" b="1" dirty="0" smtClean="0"/>
              <a:t>1</a:t>
            </a:r>
            <a:r>
              <a:rPr lang="fr-FR" sz="3300" b="1" dirty="0"/>
              <a:t>. Séparation Features / Target</a:t>
            </a:r>
          </a:p>
          <a:p>
            <a:pPr marL="0" indent="0">
              <a:buNone/>
            </a:pPr>
            <a:r>
              <a:rPr lang="fr-FR" sz="2500" b="1" dirty="0" smtClean="0"/>
              <a:t>                                                                                 </a:t>
            </a:r>
            <a:r>
              <a:rPr lang="fr-FR" sz="2500" b="1" dirty="0"/>
              <a:t>- X = 8 variables médicales</a:t>
            </a:r>
          </a:p>
          <a:p>
            <a:pPr marL="0" indent="0">
              <a:buNone/>
            </a:pPr>
            <a:r>
              <a:rPr lang="fr-FR" sz="2500" b="1" dirty="0" smtClean="0"/>
              <a:t>                                                                                </a:t>
            </a:r>
            <a:r>
              <a:rPr lang="fr-FR" sz="2500" b="1" dirty="0"/>
              <a:t>- y = Outcome (0 ou 1)</a:t>
            </a:r>
          </a:p>
          <a:p>
            <a:endParaRPr lang="fr-FR" sz="2500" b="1" dirty="0"/>
          </a:p>
          <a:p>
            <a:pPr marL="0" indent="0">
              <a:buNone/>
            </a:pPr>
            <a:r>
              <a:rPr lang="fr-FR" sz="2500" b="1" dirty="0" smtClean="0"/>
              <a:t>                                                                             </a:t>
            </a:r>
            <a:r>
              <a:rPr lang="fr-FR" sz="3300" b="1" dirty="0" smtClean="0"/>
              <a:t> 2</a:t>
            </a:r>
            <a:r>
              <a:rPr lang="fr-FR" sz="3300" b="1" dirty="0"/>
              <a:t>. Division des données</a:t>
            </a:r>
          </a:p>
          <a:p>
            <a:pPr marL="0" indent="0">
              <a:buNone/>
            </a:pPr>
            <a:r>
              <a:rPr lang="fr-FR" sz="2500" b="1" dirty="0" smtClean="0"/>
              <a:t>                                                                                      </a:t>
            </a:r>
            <a:r>
              <a:rPr lang="fr-FR" sz="2500" b="1" dirty="0"/>
              <a:t>- Train : 60%</a:t>
            </a:r>
          </a:p>
          <a:p>
            <a:pPr marL="0" indent="0">
              <a:buNone/>
            </a:pPr>
            <a:r>
              <a:rPr lang="fr-FR" sz="2500" b="1" dirty="0" smtClean="0"/>
              <a:t>                                                                                      </a:t>
            </a:r>
            <a:r>
              <a:rPr lang="fr-FR" sz="2500" b="1" dirty="0"/>
              <a:t>- Validation : 20%</a:t>
            </a:r>
          </a:p>
          <a:p>
            <a:pPr marL="0" indent="0">
              <a:buNone/>
            </a:pPr>
            <a:r>
              <a:rPr lang="fr-FR" sz="2500" b="1" dirty="0" smtClean="0"/>
              <a:t>                                                                                      </a:t>
            </a:r>
            <a:r>
              <a:rPr lang="fr-FR" sz="2500" b="1" dirty="0"/>
              <a:t>- Test : 20%</a:t>
            </a:r>
          </a:p>
          <a:p>
            <a:endParaRPr lang="fr-FR" sz="2500" b="1" dirty="0"/>
          </a:p>
          <a:p>
            <a:pPr marL="0" indent="0">
              <a:buNone/>
            </a:pPr>
            <a:r>
              <a:rPr lang="fr-FR" sz="2500" b="1" dirty="0" smtClean="0"/>
              <a:t>                                                                               </a:t>
            </a:r>
            <a:r>
              <a:rPr lang="fr-FR" sz="3300" b="1" dirty="0" smtClean="0"/>
              <a:t>3</a:t>
            </a:r>
            <a:r>
              <a:rPr lang="fr-FR" sz="3300" b="1" dirty="0"/>
              <a:t>. Normalisation</a:t>
            </a:r>
          </a:p>
          <a:p>
            <a:pPr marL="0" indent="0">
              <a:buNone/>
            </a:pPr>
            <a:r>
              <a:rPr lang="fr-FR" sz="2500" b="1" dirty="0" smtClean="0"/>
              <a:t>                                                                                    </a:t>
            </a:r>
            <a:r>
              <a:rPr lang="fr-FR" sz="2500" b="1" dirty="0"/>
              <a:t>- Utilisation de StandardScaler</a:t>
            </a:r>
          </a:p>
          <a:p>
            <a:pPr marL="0" indent="0">
              <a:buNone/>
            </a:pPr>
            <a:r>
              <a:rPr lang="fr-FR" sz="2500" b="1" dirty="0" smtClean="0"/>
              <a:t>                                                                                    </a:t>
            </a:r>
            <a:r>
              <a:rPr lang="fr-FR" sz="2500" b="1" dirty="0"/>
              <a:t>- Moyenne = 0, Écart-type = 1</a:t>
            </a:r>
          </a:p>
          <a:p>
            <a:pPr marL="0" indent="0">
              <a:buNone/>
            </a:pPr>
            <a:r>
              <a:rPr lang="fr-FR" sz="2500" b="1" dirty="0" smtClean="0"/>
              <a:t>                                                                                   </a:t>
            </a:r>
            <a:r>
              <a:rPr lang="fr-FR" sz="2500" b="1" dirty="0"/>
              <a:t>- Pour éviter le biais des échelles</a:t>
            </a:r>
          </a:p>
          <a:p>
            <a:endParaRPr lang="fr-FR" sz="2500" b="1" dirty="0"/>
          </a:p>
          <a:p>
            <a:pPr marL="0" indent="0">
              <a:buNone/>
            </a:pPr>
            <a:r>
              <a:rPr lang="fr-FR" sz="2500" b="1" dirty="0" smtClean="0"/>
              <a:t>                                                                           </a:t>
            </a:r>
            <a:r>
              <a:rPr lang="fr-FR" sz="3300" b="1" dirty="0" smtClean="0"/>
              <a:t>4</a:t>
            </a:r>
            <a:r>
              <a:rPr lang="fr-FR" sz="3300" b="1" dirty="0"/>
              <a:t>. Encodage</a:t>
            </a:r>
          </a:p>
          <a:p>
            <a:pPr marL="0" indent="0">
              <a:buNone/>
            </a:pPr>
            <a:r>
              <a:rPr lang="fr-FR" sz="2500" b="1" dirty="0" smtClean="0"/>
              <a:t>                                                                                </a:t>
            </a:r>
            <a:r>
              <a:rPr lang="fr-FR" sz="2500" b="1" dirty="0"/>
              <a:t>- Pas de variables catégorielles</a:t>
            </a:r>
          </a:p>
          <a:p>
            <a:pPr marL="0" indent="0">
              <a:buNone/>
            </a:pPr>
            <a:r>
              <a:rPr lang="fr-FR" sz="2500" b="1" dirty="0" smtClean="0"/>
              <a:t>                                                                               </a:t>
            </a:r>
            <a:r>
              <a:rPr lang="fr-FR" sz="2500" b="1" dirty="0"/>
              <a:t>- Données déjà numériques</a:t>
            </a:r>
          </a:p>
        </p:txBody>
      </p:sp>
    </p:spTree>
    <p:extLst>
      <p:ext uri="{BB962C8B-B14F-4D97-AF65-F5344CB8AC3E}">
        <p14:creationId xmlns:p14="http://schemas.microsoft.com/office/powerpoint/2010/main" val="588989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52718"/>
            <a:ext cx="9404723" cy="1149839"/>
          </a:xfrm>
        </p:spPr>
        <p:txBody>
          <a:bodyPr/>
          <a:lstStyle/>
          <a:p>
            <a:r>
              <a:rPr lang="fr-FR" sz="5400" b="1" dirty="0" smtClean="0"/>
              <a:t>         Modèles </a:t>
            </a:r>
            <a:r>
              <a:rPr lang="fr-FR" sz="5400" b="1" dirty="0"/>
              <a:t>utilisés</a:t>
            </a:r>
            <a:br>
              <a:rPr lang="fr-FR" sz="5400" b="1" dirty="0"/>
            </a:br>
            <a:endParaRPr lang="fr-FR" sz="5400" b="1" dirty="0"/>
          </a:p>
        </p:txBody>
      </p:sp>
      <p:sp>
        <p:nvSpPr>
          <p:cNvPr id="3" name="Espace réservé du contenu 2"/>
          <p:cNvSpPr>
            <a:spLocks noGrp="1"/>
          </p:cNvSpPr>
          <p:nvPr>
            <p:ph idx="1"/>
          </p:nvPr>
        </p:nvSpPr>
        <p:spPr>
          <a:xfrm>
            <a:off x="1649692" y="1329179"/>
            <a:ext cx="7390614" cy="5194169"/>
          </a:xfrm>
        </p:spPr>
        <p:txBody>
          <a:bodyPr>
            <a:normAutofit fontScale="77500" lnSpcReduction="20000"/>
          </a:bodyPr>
          <a:lstStyle/>
          <a:p>
            <a:pPr marL="0" indent="0">
              <a:buNone/>
            </a:pPr>
            <a:endParaRPr lang="fr-FR" dirty="0"/>
          </a:p>
          <a:p>
            <a:pPr marL="0" indent="0">
              <a:buNone/>
            </a:pPr>
            <a:r>
              <a:rPr lang="fr-FR" sz="3600" b="1" dirty="0"/>
              <a:t>1. KNN (K-</a:t>
            </a:r>
            <a:r>
              <a:rPr lang="fr-FR" sz="3600" b="1" dirty="0" err="1"/>
              <a:t>Nearest</a:t>
            </a:r>
            <a:r>
              <a:rPr lang="fr-FR" sz="3600" b="1" dirty="0"/>
              <a:t> Neighbors)</a:t>
            </a:r>
          </a:p>
          <a:p>
            <a:pPr marL="0" indent="0">
              <a:buNone/>
            </a:pPr>
            <a:r>
              <a:rPr lang="fr-FR" sz="2100" dirty="0"/>
              <a:t>   - Basé sur la distance entre les points</a:t>
            </a:r>
          </a:p>
          <a:p>
            <a:pPr marL="0" indent="0">
              <a:buNone/>
            </a:pPr>
            <a:r>
              <a:rPr lang="fr-FR" sz="2100" dirty="0"/>
              <a:t>   - Paramètre : K = 5</a:t>
            </a:r>
          </a:p>
          <a:p>
            <a:pPr marL="0" indent="0">
              <a:buNone/>
            </a:pPr>
            <a:r>
              <a:rPr lang="fr-FR" sz="2100" dirty="0"/>
              <a:t>   - Simple et interprétable</a:t>
            </a:r>
          </a:p>
          <a:p>
            <a:pPr marL="0" indent="0">
              <a:buNone/>
            </a:pPr>
            <a:r>
              <a:rPr lang="fr-FR" sz="3600" b="1" dirty="0" smtClean="0"/>
              <a:t>2</a:t>
            </a:r>
            <a:r>
              <a:rPr lang="fr-FR" sz="3600" b="1" dirty="0"/>
              <a:t>. XGBoost (</a:t>
            </a:r>
            <a:r>
              <a:rPr lang="fr-FR" sz="3600" b="1" dirty="0" err="1"/>
              <a:t>Extreme</a:t>
            </a:r>
            <a:r>
              <a:rPr lang="fr-FR" sz="3600" b="1" dirty="0"/>
              <a:t> Gradient </a:t>
            </a:r>
            <a:r>
              <a:rPr lang="fr-FR" sz="3600" b="1" dirty="0" err="1"/>
              <a:t>Boosting</a:t>
            </a:r>
            <a:r>
              <a:rPr lang="fr-FR" sz="3600" b="1" dirty="0"/>
              <a:t>)</a:t>
            </a:r>
          </a:p>
          <a:p>
            <a:pPr marL="0" indent="0">
              <a:buNone/>
            </a:pPr>
            <a:r>
              <a:rPr lang="fr-FR" sz="2100" dirty="0"/>
              <a:t>   - Algorithme de </a:t>
            </a:r>
            <a:r>
              <a:rPr lang="fr-FR" sz="2100" dirty="0" err="1"/>
              <a:t>boosting</a:t>
            </a:r>
            <a:endParaRPr lang="fr-FR" sz="2100" dirty="0"/>
          </a:p>
          <a:p>
            <a:pPr marL="0" indent="0">
              <a:buNone/>
            </a:pPr>
            <a:r>
              <a:rPr lang="fr-FR" sz="2100" dirty="0"/>
              <a:t>   - 100 estimateurs, </a:t>
            </a:r>
            <a:r>
              <a:rPr lang="fr-FR" sz="2100" dirty="0" err="1"/>
              <a:t>learning_rate</a:t>
            </a:r>
            <a:r>
              <a:rPr lang="fr-FR" sz="2100" dirty="0"/>
              <a:t> = 0.1</a:t>
            </a:r>
          </a:p>
          <a:p>
            <a:pPr marL="0" indent="0">
              <a:buNone/>
            </a:pPr>
            <a:r>
              <a:rPr lang="fr-FR" sz="2100" dirty="0"/>
              <a:t>   - Très performant </a:t>
            </a:r>
            <a:r>
              <a:rPr lang="fr-FR" sz="2100" dirty="0" smtClean="0"/>
              <a:t>  </a:t>
            </a:r>
            <a:r>
              <a:rPr lang="fr-FR" sz="2100" dirty="0"/>
              <a:t>MEILLEUR MODÈLE</a:t>
            </a:r>
          </a:p>
          <a:p>
            <a:endParaRPr lang="fr-FR" sz="2100" dirty="0"/>
          </a:p>
          <a:p>
            <a:pPr marL="0" indent="0">
              <a:buNone/>
            </a:pPr>
            <a:r>
              <a:rPr lang="fr-FR" sz="4000" b="1" dirty="0"/>
              <a:t>3. LightGBM (Light Gradient </a:t>
            </a:r>
            <a:r>
              <a:rPr lang="fr-FR" sz="4000" b="1" dirty="0" err="1"/>
              <a:t>Boosting</a:t>
            </a:r>
            <a:r>
              <a:rPr lang="fr-FR" sz="4000" b="1" dirty="0"/>
              <a:t>)</a:t>
            </a:r>
          </a:p>
          <a:p>
            <a:pPr marL="0" indent="0">
              <a:buNone/>
            </a:pPr>
            <a:r>
              <a:rPr lang="fr-FR" sz="2100" dirty="0"/>
              <a:t>   - </a:t>
            </a:r>
            <a:r>
              <a:rPr lang="fr-FR" sz="2100" dirty="0" err="1"/>
              <a:t>Boosting</a:t>
            </a:r>
            <a:r>
              <a:rPr lang="fr-FR" sz="2100" dirty="0"/>
              <a:t> optimisé pour la rapidité</a:t>
            </a:r>
          </a:p>
          <a:p>
            <a:pPr marL="0" indent="0">
              <a:buNone/>
            </a:pPr>
            <a:r>
              <a:rPr lang="fr-FR" sz="2100" dirty="0"/>
              <a:t>   - 100 estimateurs, </a:t>
            </a:r>
            <a:r>
              <a:rPr lang="fr-FR" sz="2100" dirty="0" err="1"/>
              <a:t>learning_rate</a:t>
            </a:r>
            <a:r>
              <a:rPr lang="fr-FR" sz="2100" dirty="0"/>
              <a:t> = 0.1</a:t>
            </a:r>
          </a:p>
          <a:p>
            <a:pPr marL="0" indent="0">
              <a:buNone/>
            </a:pPr>
            <a:r>
              <a:rPr lang="fr-FR" sz="2100" dirty="0"/>
              <a:t>   - Rapide et efficace</a:t>
            </a:r>
          </a:p>
        </p:txBody>
      </p:sp>
    </p:spTree>
    <p:extLst>
      <p:ext uri="{BB962C8B-B14F-4D97-AF65-F5344CB8AC3E}">
        <p14:creationId xmlns:p14="http://schemas.microsoft.com/office/powerpoint/2010/main" val="23411537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52718"/>
            <a:ext cx="9404723" cy="1083851"/>
          </a:xfrm>
        </p:spPr>
        <p:txBody>
          <a:bodyPr/>
          <a:lstStyle/>
          <a:p>
            <a:r>
              <a:rPr lang="fr-FR" dirty="0" smtClean="0"/>
              <a:t>           </a:t>
            </a:r>
            <a:r>
              <a:rPr lang="fr-FR" sz="4800" b="1" dirty="0" smtClean="0"/>
              <a:t>Évaluation </a:t>
            </a:r>
            <a:r>
              <a:rPr lang="fr-FR" sz="4800" b="1" dirty="0"/>
              <a:t>des Modèles</a:t>
            </a:r>
            <a:endParaRPr lang="fr-FR" b="1" dirty="0"/>
          </a:p>
        </p:txBody>
      </p:sp>
      <p:sp>
        <p:nvSpPr>
          <p:cNvPr id="3" name="Espace réservé du contenu 2"/>
          <p:cNvSpPr>
            <a:spLocks noGrp="1"/>
          </p:cNvSpPr>
          <p:nvPr>
            <p:ph idx="1"/>
          </p:nvPr>
        </p:nvSpPr>
        <p:spPr>
          <a:xfrm>
            <a:off x="1442301" y="1055801"/>
            <a:ext cx="9398524" cy="5297865"/>
          </a:xfrm>
        </p:spPr>
        <p:txBody>
          <a:bodyPr>
            <a:noAutofit/>
          </a:bodyPr>
          <a:lstStyle/>
          <a:p>
            <a:endParaRPr lang="fr-FR" sz="1600" dirty="0"/>
          </a:p>
          <a:p>
            <a:pPr marL="0" indent="0">
              <a:buNone/>
            </a:pPr>
            <a:r>
              <a:rPr lang="fr-FR" sz="1600" dirty="0" smtClean="0"/>
              <a:t>                                </a:t>
            </a:r>
            <a:r>
              <a:rPr lang="fr-FR" b="1" dirty="0" smtClean="0"/>
              <a:t>Métriques </a:t>
            </a:r>
            <a:r>
              <a:rPr lang="fr-FR" b="1" dirty="0"/>
              <a:t>utilisées :</a:t>
            </a:r>
          </a:p>
          <a:p>
            <a:pPr marL="0" indent="0">
              <a:buNone/>
            </a:pPr>
            <a:r>
              <a:rPr lang="fr-FR" sz="1600" dirty="0" smtClean="0"/>
              <a:t>                                          - Accuracy </a:t>
            </a:r>
            <a:r>
              <a:rPr lang="fr-FR" sz="1600" dirty="0"/>
              <a:t>: Pourcentage de bonnes prédictions</a:t>
            </a:r>
          </a:p>
          <a:p>
            <a:pPr marL="0" indent="0">
              <a:buNone/>
            </a:pPr>
            <a:r>
              <a:rPr lang="fr-FR" sz="1600" dirty="0" smtClean="0"/>
              <a:t>                                          - </a:t>
            </a:r>
            <a:r>
              <a:rPr lang="fr-FR" sz="1600" dirty="0"/>
              <a:t>Precision : Proportion de vrais positifs</a:t>
            </a:r>
          </a:p>
          <a:p>
            <a:pPr marL="0" indent="0">
              <a:buNone/>
            </a:pPr>
            <a:r>
              <a:rPr lang="fr-FR" sz="1600" dirty="0" smtClean="0"/>
              <a:t>                                          - </a:t>
            </a:r>
            <a:r>
              <a:rPr lang="fr-FR" sz="1600" dirty="0"/>
              <a:t>Recall : Proportion de cas détectés</a:t>
            </a:r>
          </a:p>
          <a:p>
            <a:pPr marL="0" indent="0">
              <a:buNone/>
            </a:pPr>
            <a:r>
              <a:rPr lang="fr-FR" sz="1600" dirty="0" smtClean="0"/>
              <a:t>                                          - </a:t>
            </a:r>
            <a:r>
              <a:rPr lang="fr-FR" sz="1600" dirty="0"/>
              <a:t>F1-Score : Moyenne harmonique Precision/Recall</a:t>
            </a:r>
          </a:p>
          <a:p>
            <a:pPr marL="0" indent="0">
              <a:buNone/>
            </a:pPr>
            <a:r>
              <a:rPr lang="fr-FR" sz="1600" dirty="0" smtClean="0"/>
              <a:t>                                           - </a:t>
            </a:r>
            <a:r>
              <a:rPr lang="fr-FR" sz="1600" dirty="0"/>
              <a:t>ROC-AUC : Capacité à distinguer les classes</a:t>
            </a:r>
          </a:p>
          <a:p>
            <a:pPr marL="0" indent="0">
              <a:buNone/>
            </a:pPr>
            <a:r>
              <a:rPr lang="fr-FR" sz="1600" dirty="0" smtClean="0"/>
              <a:t>                               </a:t>
            </a:r>
            <a:r>
              <a:rPr lang="fr-FR" b="1" dirty="0" smtClean="0"/>
              <a:t> Résultats </a:t>
            </a:r>
            <a:r>
              <a:rPr lang="fr-FR" b="1" dirty="0"/>
              <a:t>:</a:t>
            </a:r>
          </a:p>
          <a:p>
            <a:pPr marL="0" indent="0">
              <a:buNone/>
            </a:pPr>
            <a:r>
              <a:rPr lang="fr-FR" sz="1600" dirty="0" smtClean="0"/>
              <a:t>                                     Modèle      </a:t>
            </a:r>
            <a:r>
              <a:rPr lang="fr-FR" sz="1600" dirty="0"/>
              <a:t>Accuracy  </a:t>
            </a:r>
            <a:r>
              <a:rPr lang="fr-FR" sz="1600" dirty="0" smtClean="0"/>
              <a:t>     Précision       </a:t>
            </a:r>
            <a:r>
              <a:rPr lang="fr-FR" sz="1600" dirty="0"/>
              <a:t>Recall </a:t>
            </a:r>
            <a:r>
              <a:rPr lang="fr-FR" sz="1600" dirty="0" smtClean="0"/>
              <a:t>   F1-Score </a:t>
            </a:r>
            <a:endParaRPr lang="fr-FR" sz="1600" dirty="0"/>
          </a:p>
          <a:p>
            <a:pPr marL="0" indent="0">
              <a:buNone/>
            </a:pPr>
            <a:r>
              <a:rPr lang="fr-FR" sz="1600" dirty="0" smtClean="0"/>
              <a:t>                                     KNN             </a:t>
            </a:r>
            <a:r>
              <a:rPr lang="fr-FR" sz="1600" dirty="0"/>
              <a:t>0.8117  </a:t>
            </a:r>
            <a:r>
              <a:rPr lang="fr-FR" sz="1600" dirty="0" smtClean="0"/>
              <a:t>           </a:t>
            </a:r>
            <a:r>
              <a:rPr lang="fr-FR" sz="1600" dirty="0"/>
              <a:t>0.78   </a:t>
            </a:r>
            <a:r>
              <a:rPr lang="fr-FR" sz="1600" dirty="0" smtClean="0"/>
              <a:t>        0.76              </a:t>
            </a:r>
            <a:r>
              <a:rPr lang="fr-FR" sz="1600" dirty="0"/>
              <a:t>0.77     </a:t>
            </a:r>
          </a:p>
          <a:p>
            <a:pPr marL="0" indent="0">
              <a:buNone/>
            </a:pPr>
            <a:r>
              <a:rPr lang="fr-FR" sz="1600" dirty="0" smtClean="0"/>
              <a:t>                                    XGBoost      0.8701              0.81           </a:t>
            </a:r>
            <a:r>
              <a:rPr lang="fr-FR" sz="1600" dirty="0"/>
              <a:t>0.81   </a:t>
            </a:r>
            <a:r>
              <a:rPr lang="fr-FR" sz="1600" dirty="0" smtClean="0"/>
              <a:t>            </a:t>
            </a:r>
            <a:r>
              <a:rPr lang="fr-FR" sz="1600" dirty="0"/>
              <a:t>0.81     </a:t>
            </a:r>
          </a:p>
          <a:p>
            <a:pPr marL="0" indent="0">
              <a:buNone/>
            </a:pPr>
            <a:r>
              <a:rPr lang="fr-FR" sz="1600" dirty="0" smtClean="0"/>
              <a:t>                                    LightGBM     </a:t>
            </a:r>
            <a:r>
              <a:rPr lang="fr-FR" sz="1600" dirty="0"/>
              <a:t>0.8636   </a:t>
            </a:r>
            <a:r>
              <a:rPr lang="fr-FR" sz="1600" dirty="0" smtClean="0"/>
              <a:t>          </a:t>
            </a:r>
            <a:r>
              <a:rPr lang="fr-FR" sz="1600" dirty="0"/>
              <a:t>0.81  </a:t>
            </a:r>
            <a:r>
              <a:rPr lang="fr-FR" sz="1600" dirty="0" smtClean="0"/>
              <a:t>      0.80                </a:t>
            </a:r>
            <a:r>
              <a:rPr lang="fr-FR" sz="1600" dirty="0"/>
              <a:t>0.80     </a:t>
            </a:r>
            <a:r>
              <a:rPr lang="fr-FR" sz="1600" dirty="0" smtClean="0"/>
              <a:t>                            </a:t>
            </a:r>
          </a:p>
          <a:p>
            <a:pPr marL="0" indent="0">
              <a:buNone/>
            </a:pPr>
            <a:r>
              <a:rPr lang="fr-FR" sz="1600" b="1" dirty="0"/>
              <a:t> </a:t>
            </a:r>
            <a:r>
              <a:rPr lang="fr-FR" sz="1600" b="1" dirty="0" smtClean="0"/>
              <a:t>                    </a:t>
            </a:r>
            <a:r>
              <a:rPr lang="fr-FR" sz="1800" b="1" dirty="0" smtClean="0"/>
              <a:t>MEILLEUR MODÈLE RETENU ET SAUVEGARDE </a:t>
            </a:r>
            <a:r>
              <a:rPr lang="fr-FR" sz="1800" b="1" dirty="0"/>
              <a:t>: XGBoost (87.01%)</a:t>
            </a:r>
          </a:p>
        </p:txBody>
      </p:sp>
    </p:spTree>
    <p:extLst>
      <p:ext uri="{BB962C8B-B14F-4D97-AF65-F5344CB8AC3E}">
        <p14:creationId xmlns:p14="http://schemas.microsoft.com/office/powerpoint/2010/main" val="35482904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301658"/>
            <a:ext cx="9404723" cy="876693"/>
          </a:xfrm>
        </p:spPr>
        <p:txBody>
          <a:bodyPr/>
          <a:lstStyle/>
          <a:p>
            <a:r>
              <a:rPr lang="fr-FR" dirty="0" smtClean="0"/>
              <a:t>             </a:t>
            </a:r>
            <a:r>
              <a:rPr lang="fr-FR" sz="4800" b="1" dirty="0" smtClean="0"/>
              <a:t>Déploiement </a:t>
            </a:r>
            <a:r>
              <a:rPr lang="fr-FR" sz="4800" b="1" dirty="0"/>
              <a:t>en ligne</a:t>
            </a:r>
            <a:endParaRPr lang="fr-FR" b="1" dirty="0"/>
          </a:p>
        </p:txBody>
      </p:sp>
      <p:sp>
        <p:nvSpPr>
          <p:cNvPr id="3" name="Espace réservé du contenu 2"/>
          <p:cNvSpPr>
            <a:spLocks noGrp="1"/>
          </p:cNvSpPr>
          <p:nvPr>
            <p:ph idx="1"/>
          </p:nvPr>
        </p:nvSpPr>
        <p:spPr>
          <a:xfrm>
            <a:off x="1103311" y="1178351"/>
            <a:ext cx="9548977" cy="5467546"/>
          </a:xfrm>
        </p:spPr>
        <p:txBody>
          <a:bodyPr>
            <a:normAutofit fontScale="77500" lnSpcReduction="20000"/>
          </a:bodyPr>
          <a:lstStyle/>
          <a:p>
            <a:endParaRPr lang="fr-FR" dirty="0"/>
          </a:p>
          <a:p>
            <a:pPr marL="0" indent="0">
              <a:buNone/>
            </a:pPr>
            <a:r>
              <a:rPr lang="fr-FR" dirty="0" smtClean="0"/>
              <a:t>                                                                </a:t>
            </a:r>
            <a:r>
              <a:rPr lang="fr-FR" sz="2900" b="1" dirty="0" smtClean="0"/>
              <a:t>Plateforme </a:t>
            </a:r>
            <a:r>
              <a:rPr lang="fr-FR" sz="2900" b="1" dirty="0"/>
              <a:t>utilisée : Render </a:t>
            </a:r>
            <a:endParaRPr lang="fr-FR" b="1" dirty="0"/>
          </a:p>
          <a:p>
            <a:endParaRPr lang="fr-FR" dirty="0"/>
          </a:p>
          <a:p>
            <a:pPr marL="0" indent="0">
              <a:buNone/>
            </a:pPr>
            <a:r>
              <a:rPr lang="fr-FR" dirty="0" smtClean="0"/>
              <a:t>                                                                  </a:t>
            </a:r>
            <a:r>
              <a:rPr lang="fr-FR" sz="2900" b="1" dirty="0" smtClean="0"/>
              <a:t>Étapes </a:t>
            </a:r>
            <a:r>
              <a:rPr lang="fr-FR" sz="2900" b="1" dirty="0"/>
              <a:t>de déploiement :</a:t>
            </a:r>
          </a:p>
          <a:p>
            <a:pPr marL="0" indent="0">
              <a:buNone/>
            </a:pPr>
            <a:r>
              <a:rPr lang="fr-FR" dirty="0" smtClean="0"/>
              <a:t>                                                               1</a:t>
            </a:r>
            <a:r>
              <a:rPr lang="fr-FR" dirty="0"/>
              <a:t>. Hébergement sur Render</a:t>
            </a:r>
          </a:p>
          <a:p>
            <a:pPr marL="0" indent="0">
              <a:buNone/>
            </a:pPr>
            <a:r>
              <a:rPr lang="fr-FR" dirty="0" smtClean="0"/>
              <a:t>                                                               2</a:t>
            </a:r>
            <a:r>
              <a:rPr lang="fr-FR" dirty="0"/>
              <a:t>. Configuration des variables d'environnement</a:t>
            </a:r>
          </a:p>
          <a:p>
            <a:pPr marL="0" indent="0">
              <a:buNone/>
            </a:pPr>
            <a:r>
              <a:rPr lang="fr-FR" dirty="0" smtClean="0"/>
              <a:t>                                                              3</a:t>
            </a:r>
            <a:r>
              <a:rPr lang="fr-FR" dirty="0"/>
              <a:t>. Build et déploiement automatique</a:t>
            </a:r>
          </a:p>
          <a:p>
            <a:endParaRPr lang="fr-FR" dirty="0"/>
          </a:p>
          <a:p>
            <a:pPr marL="0" indent="0">
              <a:buNone/>
            </a:pPr>
            <a:r>
              <a:rPr lang="fr-FR" sz="2500" b="1" dirty="0" smtClean="0"/>
              <a:t>                                                           Technologies </a:t>
            </a:r>
            <a:r>
              <a:rPr lang="fr-FR" sz="2500" b="1" dirty="0"/>
              <a:t>utilisées :</a:t>
            </a:r>
          </a:p>
          <a:p>
            <a:pPr marL="0" indent="0">
              <a:buNone/>
            </a:pPr>
            <a:r>
              <a:rPr lang="fr-FR" dirty="0" smtClean="0"/>
              <a:t>                                                                 - </a:t>
            </a:r>
            <a:r>
              <a:rPr lang="fr-FR" dirty="0"/>
              <a:t>Backend : Flask (Python)</a:t>
            </a:r>
          </a:p>
          <a:p>
            <a:pPr marL="0" indent="0">
              <a:buNone/>
            </a:pPr>
            <a:r>
              <a:rPr lang="fr-FR" dirty="0" smtClean="0"/>
              <a:t>                                                                 - </a:t>
            </a:r>
            <a:r>
              <a:rPr lang="fr-FR" dirty="0"/>
              <a:t>Frontend : HTML, CSS, JavaScript</a:t>
            </a:r>
          </a:p>
          <a:p>
            <a:pPr marL="0" indent="0">
              <a:buNone/>
            </a:pPr>
            <a:r>
              <a:rPr lang="fr-FR" dirty="0" smtClean="0"/>
              <a:t>                                                                 - </a:t>
            </a:r>
            <a:r>
              <a:rPr lang="fr-FR" dirty="0"/>
              <a:t>Base de données : SQLite</a:t>
            </a:r>
          </a:p>
          <a:p>
            <a:pPr marL="0" indent="0">
              <a:buNone/>
            </a:pPr>
            <a:r>
              <a:rPr lang="fr-FR" dirty="0" smtClean="0"/>
              <a:t>                                                                 - </a:t>
            </a:r>
            <a:r>
              <a:rPr lang="fr-FR" dirty="0"/>
              <a:t>Modèle : XGBoost (joblib)</a:t>
            </a:r>
          </a:p>
          <a:p>
            <a:endParaRPr lang="fr-FR" dirty="0"/>
          </a:p>
          <a:p>
            <a:pPr marL="0" indent="0">
              <a:buNone/>
            </a:pPr>
            <a:r>
              <a:rPr lang="fr-FR" dirty="0" smtClean="0"/>
              <a:t>                                                              </a:t>
            </a:r>
            <a:r>
              <a:rPr lang="fr-FR" sz="2500" b="1" dirty="0" smtClean="0"/>
              <a:t>  URL </a:t>
            </a:r>
            <a:r>
              <a:rPr lang="fr-FR" sz="2500" b="1" dirty="0"/>
              <a:t>de l'application :</a:t>
            </a:r>
          </a:p>
          <a:p>
            <a:pPr marL="0" indent="0">
              <a:buNone/>
            </a:pPr>
            <a:r>
              <a:rPr lang="fr-FR" dirty="0" smtClean="0"/>
              <a:t>                                                             https://diabpredict-4-g9h0.onrender.com</a:t>
            </a:r>
            <a:endParaRPr lang="fr-FR" dirty="0"/>
          </a:p>
        </p:txBody>
      </p:sp>
    </p:spTree>
    <p:extLst>
      <p:ext uri="{BB962C8B-B14F-4D97-AF65-F5344CB8AC3E}">
        <p14:creationId xmlns:p14="http://schemas.microsoft.com/office/powerpoint/2010/main" val="114896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46111" y="452718"/>
            <a:ext cx="9808215" cy="838754"/>
          </a:xfrm>
        </p:spPr>
        <p:txBody>
          <a:bodyPr/>
          <a:lstStyle/>
          <a:p>
            <a:r>
              <a:rPr lang="en-US" dirty="0" smtClean="0"/>
              <a:t>        </a:t>
            </a:r>
            <a:r>
              <a:rPr lang="en-US" sz="4400" b="1" dirty="0" smtClean="0"/>
              <a:t>Fonctinnalites del’Application</a:t>
            </a:r>
            <a:endParaRPr lang="fr-FR" b="1" dirty="0"/>
          </a:p>
        </p:txBody>
      </p:sp>
      <p:sp>
        <p:nvSpPr>
          <p:cNvPr id="3" name="Espace réservé du contenu 2"/>
          <p:cNvSpPr>
            <a:spLocks noGrp="1"/>
          </p:cNvSpPr>
          <p:nvPr>
            <p:ph idx="1"/>
          </p:nvPr>
        </p:nvSpPr>
        <p:spPr>
          <a:xfrm>
            <a:off x="1103312" y="1385740"/>
            <a:ext cx="8946541" cy="5099901"/>
          </a:xfrm>
        </p:spPr>
        <p:txBody>
          <a:bodyPr>
            <a:normAutofit fontScale="40000" lnSpcReduction="20000"/>
          </a:bodyPr>
          <a:lstStyle/>
          <a:p>
            <a:pPr marL="0" indent="0">
              <a:buNone/>
            </a:pPr>
            <a:r>
              <a:rPr lang="fr-FR" dirty="0"/>
              <a:t>Prédiction en temps réel</a:t>
            </a:r>
          </a:p>
          <a:p>
            <a:pPr marL="457200" lvl="1" indent="0">
              <a:buNone/>
            </a:pPr>
            <a:r>
              <a:rPr lang="fr-FR" dirty="0"/>
              <a:t>Saisie des 8 paramètres médicaux</a:t>
            </a:r>
          </a:p>
          <a:p>
            <a:pPr marL="457200" lvl="1" indent="0">
              <a:buNone/>
            </a:pPr>
            <a:r>
              <a:rPr lang="fr-FR" dirty="0"/>
              <a:t>Résultat instantané avec probabilité</a:t>
            </a:r>
          </a:p>
          <a:p>
            <a:pPr marL="0" indent="0">
              <a:buNone/>
            </a:pPr>
            <a:r>
              <a:rPr lang="fr-FR" dirty="0"/>
              <a:t>Base de données SQLite</a:t>
            </a:r>
          </a:p>
          <a:p>
            <a:pPr marL="457200" lvl="1" indent="0">
              <a:buNone/>
            </a:pPr>
            <a:r>
              <a:rPr lang="fr-FR" dirty="0"/>
              <a:t>Sauvegarde des patients et prédictions</a:t>
            </a:r>
          </a:p>
          <a:p>
            <a:pPr marL="457200" lvl="1" indent="0">
              <a:buNone/>
            </a:pPr>
            <a:r>
              <a:rPr lang="fr-FR" dirty="0"/>
              <a:t>Historique complet</a:t>
            </a:r>
          </a:p>
          <a:p>
            <a:pPr marL="457200" lvl="1" indent="0">
              <a:buNone/>
            </a:pPr>
            <a:r>
              <a:rPr lang="fr-FR" dirty="0"/>
              <a:t>Statistiques globales</a:t>
            </a:r>
          </a:p>
          <a:p>
            <a:pPr marL="0" indent="0">
              <a:buNone/>
            </a:pPr>
            <a:r>
              <a:rPr lang="fr-FR" dirty="0"/>
              <a:t>CRUD complet</a:t>
            </a:r>
          </a:p>
          <a:p>
            <a:pPr marL="457200" lvl="1" indent="0">
              <a:buNone/>
            </a:pPr>
            <a:r>
              <a:rPr lang="fr-FR" dirty="0"/>
              <a:t>Créer : Ajouter un patient</a:t>
            </a:r>
          </a:p>
          <a:p>
            <a:pPr marL="457200" lvl="1" indent="0">
              <a:buNone/>
            </a:pPr>
            <a:r>
              <a:rPr lang="fr-FR" dirty="0"/>
              <a:t>Lire : Voir l'historique</a:t>
            </a:r>
          </a:p>
          <a:p>
            <a:pPr marL="457200" lvl="1" indent="0">
              <a:buNone/>
            </a:pPr>
            <a:r>
              <a:rPr lang="fr-FR" dirty="0"/>
              <a:t>Modifier : Corriger les données</a:t>
            </a:r>
          </a:p>
          <a:p>
            <a:pPr marL="457200" lvl="1" indent="0">
              <a:buNone/>
            </a:pPr>
            <a:r>
              <a:rPr lang="fr-FR" dirty="0"/>
              <a:t>Supprimer : Effacer une entrée</a:t>
            </a:r>
          </a:p>
          <a:p>
            <a:pPr marL="0" indent="0">
              <a:buNone/>
            </a:pPr>
            <a:r>
              <a:rPr lang="fr-FR" dirty="0"/>
              <a:t>Rapports</a:t>
            </a:r>
          </a:p>
          <a:p>
            <a:pPr marL="457200" lvl="1" indent="0">
              <a:buNone/>
            </a:pPr>
            <a:r>
              <a:rPr lang="fr-FR" dirty="0"/>
              <a:t>Rapport individuel par patient</a:t>
            </a:r>
          </a:p>
          <a:p>
            <a:pPr marL="457200" lvl="1" indent="0">
              <a:buNone/>
            </a:pPr>
            <a:r>
              <a:rPr lang="fr-FR" dirty="0"/>
              <a:t>Rapport global (toutes les prédictions)</a:t>
            </a:r>
          </a:p>
          <a:p>
            <a:pPr marL="457200" lvl="1" indent="0">
              <a:buNone/>
            </a:pPr>
            <a:r>
              <a:rPr lang="fr-FR" dirty="0"/>
              <a:t>Impression des rapports</a:t>
            </a:r>
          </a:p>
          <a:p>
            <a:pPr marL="0" indent="0">
              <a:buNone/>
            </a:pPr>
            <a:r>
              <a:rPr lang="fr-FR" dirty="0"/>
              <a:t>Interface professionnelle</a:t>
            </a:r>
          </a:p>
          <a:p>
            <a:pPr marL="457200" lvl="1" indent="0">
              <a:buNone/>
            </a:pPr>
            <a:r>
              <a:rPr lang="fr-FR" dirty="0"/>
              <a:t>Navigation intuitive</a:t>
            </a:r>
          </a:p>
          <a:p>
            <a:pPr marL="457200" lvl="1" indent="0">
              <a:buNone/>
            </a:pPr>
            <a:r>
              <a:rPr lang="fr-FR" dirty="0"/>
              <a:t>Design responsive</a:t>
            </a:r>
          </a:p>
          <a:p>
            <a:pPr marL="457200" lvl="1" indent="0">
              <a:buNone/>
            </a:pPr>
            <a:r>
              <a:rPr lang="fr-FR" dirty="0"/>
              <a:t>Visualisation des statistiques</a:t>
            </a:r>
          </a:p>
          <a:p>
            <a:pPr marL="0" indent="0">
              <a:buNone/>
            </a:pPr>
            <a:r>
              <a:rPr lang="fr-FR" dirty="0"/>
              <a:t/>
            </a:r>
            <a:br>
              <a:rPr lang="fr-FR" dirty="0"/>
            </a:br>
            <a:endParaRPr lang="fr-FR" dirty="0"/>
          </a:p>
        </p:txBody>
      </p:sp>
    </p:spTree>
    <p:extLst>
      <p:ext uri="{BB962C8B-B14F-4D97-AF65-F5344CB8AC3E}">
        <p14:creationId xmlns:p14="http://schemas.microsoft.com/office/powerpoint/2010/main" val="63516413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265</TotalTime>
  <Words>818</Words>
  <Application>Microsoft Office PowerPoint</Application>
  <PresentationFormat>Grand écran</PresentationFormat>
  <Paragraphs>155</Paragraphs>
  <Slides>11</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11</vt:i4>
      </vt:variant>
    </vt:vector>
  </HeadingPairs>
  <TitlesOfParts>
    <vt:vector size="17" baseType="lpstr">
      <vt:lpstr>Algerian</vt:lpstr>
      <vt:lpstr>Arial</vt:lpstr>
      <vt:lpstr>Arial Black</vt:lpstr>
      <vt:lpstr>Century Gothic</vt:lpstr>
      <vt:lpstr>Wingdings 3</vt:lpstr>
      <vt:lpstr>Ion</vt:lpstr>
      <vt:lpstr>DiabPredict Prédiction du Diabète par Intelligence Artificielle Cas des femmes Projet de Machine Learning Domaine : Santé  Réalisé par : - MUSHOBOZI MUNGOBIJIRA Affable -  Amani Sukuwabo Bravo  Date : Juillet 2026</vt:lpstr>
      <vt:lpstr>  1. Introduction et Problématique 2. Objectifs du projet 3. Le Dataset (Pima Indians Diabetes) 4. Analyse Exploratoire des Données 5. Préparation des Données 6. Modèles de Machine Learning utilisés 7. Évaluation et Comparaison 8. Déploiement de l'Application 9. Architecture de l'Application 10. Fonctionnalités 11. Démonstration 12. Conclusion et Perspectives </vt:lpstr>
      <vt:lpstr>          Introduction</vt:lpstr>
      <vt:lpstr>         Objectifs du projet</vt:lpstr>
      <vt:lpstr>Le Dataset : Pima Indians Diabetes</vt:lpstr>
      <vt:lpstr>Analyse Exploratoire des Données</vt:lpstr>
      <vt:lpstr>       Préparation des Données</vt:lpstr>
      <vt:lpstr>         Modèles utilisés </vt:lpstr>
      <vt:lpstr>           Évaluation des Modèles</vt:lpstr>
      <vt:lpstr>             Déploiement en ligne</vt:lpstr>
      <vt:lpstr>        Fonctinnalites del’Application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DiabPredict Prédiction du Diabète par Intelligence Artificielle Cas des femmes Projet de Machine Learning Domaine : Santé  Réalisé par : - MUSHOBOZI MUNGOBIJIRA Affable -  Amani Sukuwabo Bravo  Date : Juillet 2026</dc:title>
  <dc:creator>Affable Mushbozi</dc:creator>
  <cp:lastModifiedBy>Affable Mushbozi</cp:lastModifiedBy>
  <cp:revision>11</cp:revision>
  <dcterms:created xsi:type="dcterms:W3CDTF">2026-07-14T06:26:02Z</dcterms:created>
  <dcterms:modified xsi:type="dcterms:W3CDTF">2026-07-14T10:51:13Z</dcterms:modified>
</cp:coreProperties>
</file>